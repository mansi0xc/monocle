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Look at the audience, not the screen.
"Alpenglow is almost here, and it will change how Solana decides a block is final. That's exciting, but it raises a question: when finality evidence breaks, how will you know why? I'm Mansi, and I built Monocle to answer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"Today, when a verifier rejects a certificate, you mostly just get a failure. That could mean the signature was encoded wrongly, the signers don't match the stake they claim, the wrong protocol version was used, or a valid certificate is missing its other half. From the outside those all look the same, and on launch day you don't want to be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"Monocle is an open-source finality debugger that runs in your browser, with no wallet, no RPC and nothing to install. It gives one of three verdicts: verified, rejected, or inconclusive when context is missing. It never guesses, and every verdict points to the exact check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"A quick note before the demo: Alpenglow hasn't launched, so everything you'll see uses synthetic test data, meaning signed certificates with public test keys and invented stake. The cryptography is real, but the evidence is made for testing. Here's one of those certificates in Monocle. I choose the trusted checkpoint myself, since Monocle never decides what to trust for me, and when I verify, it comes back verified with eighty out of a hundred stake, which clears the fast-path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"Behind that result is a full trace, where each step shows its status, a plain reason and an exact diagnostic code, so nothing about the decision is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
"Now let's break it. This is the certificate's raw bytes, with the six checks that run against them, and all of them pass right now. I'm going to change a single byte."
(The next slide is the same view after the change. This view replays a result recorded from Monocle's real verifier, so say so if you are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[1:58]
"That one change makes the signature check fail. What's more useful is what didn't run: the quorum and finality checks never got a chance, because the signature broke first. So Monocle tells you not only that the evidence failed, but the order in which it gave way, and it notes that a rejection doesn't prove the block is non-final. That's the difference between a red X and a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
"To be clear about where this stands, Monocle is a debugger, not a light client, and since Alpenglow isn't live, nothing here has been verified against the real network yet. I also have one recorded testnet response, which Monocle keeps as inconclusive because it's missing its historical context, and it won't make that context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Look at the audience, not the slide.
"Alpenglow is coming, and when it does you'll want to know why a certificate holds or breaks. You can try Monocle right now at monocle-omega.vercel.app, and it's open source on GitHub.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IGHT">
    <p:bg>
      <p:bgPr>
        <a:solidFill>
          <a:srgbClr val="12172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5B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5B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monocle-omega.vercel.app/" TargetMode="External"/><Relationship Id="rId3" Type="http://schemas.openxmlformats.org/officeDocument/2006/relationships/hyperlink" Target="https://github.com/mansi0xc/monocle" TargetMode="External"/><Relationship Id="rId1"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371600" y="3200400"/>
            <a:ext cx="5486400" cy="5486400"/>
          </a:xfrm>
          <a:prstGeom prst="ellipse">
            <a:avLst/>
          </a:prstGeom>
          <a:solidFill>
            <a:srgbClr val="F29484">
              <a:alpha val="10000"/>
            </a:srgbClr>
          </a:solidFill>
          <a:ln w="12700">
            <a:solidFill>
              <a:srgbClr val="F29484">
                <a:alpha val="0"/>
              </a:srgbClr>
            </a:solidFill>
            <a:prstDash val="solid"/>
          </a:ln>
        </p:spPr>
      </p:sp>
      <p:sp>
        <p:nvSpPr>
          <p:cNvPr id="3" name="Shape 1"/>
          <p:cNvSpPr/>
          <p:nvPr/>
        </p:nvSpPr>
        <p:spPr>
          <a:xfrm>
            <a:off x="8229600" y="-1371600"/>
            <a:ext cx="5486400" cy="5486400"/>
          </a:xfrm>
          <a:prstGeom prst="ellipse">
            <a:avLst/>
          </a:prstGeom>
          <a:solidFill>
            <a:srgbClr val="F6C177">
              <a:alpha val="8000"/>
            </a:srgbClr>
          </a:solidFill>
          <a:ln w="12700">
            <a:solidFill>
              <a:srgbClr val="F6C177">
                <a:alpha val="0"/>
              </a:srgbClr>
            </a:solidFill>
            <a:prstDash val="solid"/>
          </a:ln>
        </p:spPr>
      </p:sp>
      <p:pic>
        <p:nvPicPr>
          <p:cNvPr id="4" name="Image 0" descr="Monocle mark">    </p:cNvPr>
          <p:cNvPicPr>
            <a:picLocks noChangeAspect="1"/>
          </p:cNvPicPr>
          <p:nvPr/>
        </p:nvPicPr>
        <p:blipFill>
          <a:blip r:embed="rId1"/>
          <a:stretch>
            <a:fillRect/>
          </a:stretch>
        </p:blipFill>
        <p:spPr>
          <a:xfrm>
            <a:off x="731520" y="731520"/>
            <a:ext cx="731520" cy="731520"/>
          </a:xfrm>
          <a:prstGeom prst="rect">
            <a:avLst/>
          </a:prstGeom>
        </p:spPr>
      </p:pic>
      <p:sp>
        <p:nvSpPr>
          <p:cNvPr id="5" name="Text 2"/>
          <p:cNvSpPr txBox="1"/>
          <p:nvPr/>
        </p:nvSpPr>
        <p:spPr>
          <a:xfrm>
            <a:off x="1600200" y="822960"/>
            <a:ext cx="3657600" cy="548640"/>
          </a:xfrm>
          <a:prstGeom prst="rect">
            <a:avLst/>
          </a:prstGeom>
          <a:noFill/>
          <a:ln/>
        </p:spPr>
        <p:txBody>
          <a:bodyPr wrap="square" lIns="0" tIns="0" rIns="0" bIns="0" rtlCol="0" anchor="ctr"/>
          <a:lstStyle/>
          <a:p>
            <a:pPr indent="0" marL="0">
              <a:buNone/>
            </a:pPr>
            <a:r>
              <a:rPr lang="en-US" sz="2400" b="1" dirty="0">
                <a:solidFill>
                  <a:srgbClr val="EEF1F8"/>
                </a:solidFill>
                <a:latin typeface="Calibri" pitchFamily="34" charset="0"/>
                <a:ea typeface="Calibri" pitchFamily="34" charset="-122"/>
                <a:cs typeface="Calibri" pitchFamily="34" charset="-120"/>
              </a:rPr>
              <a:t>monocle</a:t>
            </a:r>
            <a:endParaRPr lang="en-US" sz="2400" dirty="0"/>
          </a:p>
        </p:txBody>
      </p:sp>
      <p:sp>
        <p:nvSpPr>
          <p:cNvPr id="6" name="Text 3"/>
          <p:cNvSpPr txBox="1"/>
          <p:nvPr/>
        </p:nvSpPr>
        <p:spPr>
          <a:xfrm>
            <a:off x="731520" y="1920240"/>
            <a:ext cx="6035040" cy="1828800"/>
          </a:xfrm>
          <a:prstGeom prst="rect">
            <a:avLst/>
          </a:prstGeom>
          <a:noFill/>
          <a:ln/>
        </p:spPr>
        <p:txBody>
          <a:bodyPr wrap="square" lIns="0" tIns="0" rIns="0" bIns="0" rtlCol="0" anchor="t"/>
          <a:lstStyle/>
          <a:p>
            <a:pPr indent="0" marL="0">
              <a:buNone/>
            </a:pPr>
            <a:r>
              <a:rPr lang="en-US" sz="5000" b="1" dirty="0">
                <a:solidFill>
                  <a:srgbClr val="EEF1F8"/>
                </a:solidFill>
                <a:latin typeface="Georgia" pitchFamily="34" charset="0"/>
                <a:ea typeface="Georgia" pitchFamily="34" charset="-122"/>
                <a:cs typeface="Georgia" pitchFamily="34" charset="-120"/>
              </a:rPr>
              <a:t>Alpenglow</a:t>
            </a:r>
            <a:endParaRPr lang="en-US" sz="5000" dirty="0"/>
          </a:p>
          <a:p>
            <a:pPr indent="0" marL="0">
              <a:buNone/>
            </a:pPr>
            <a:r>
              <a:rPr lang="en-US" sz="5000" b="1" dirty="0">
                <a:solidFill>
                  <a:srgbClr val="EEF1F8"/>
                </a:solidFill>
                <a:latin typeface="Georgia" pitchFamily="34" charset="0"/>
                <a:ea typeface="Georgia" pitchFamily="34" charset="-122"/>
                <a:cs typeface="Georgia" pitchFamily="34" charset="-120"/>
              </a:rPr>
              <a:t>is almost here.</a:t>
            </a:r>
            <a:endParaRPr lang="en-US" sz="5000" dirty="0"/>
          </a:p>
        </p:txBody>
      </p:sp>
      <p:sp>
        <p:nvSpPr>
          <p:cNvPr id="7" name="Text 4"/>
          <p:cNvSpPr txBox="1"/>
          <p:nvPr/>
        </p:nvSpPr>
        <p:spPr>
          <a:xfrm>
            <a:off x="731520" y="4023360"/>
            <a:ext cx="5669280" cy="548640"/>
          </a:xfrm>
          <a:prstGeom prst="rect">
            <a:avLst/>
          </a:prstGeom>
          <a:noFill/>
          <a:ln/>
        </p:spPr>
        <p:txBody>
          <a:bodyPr wrap="square" lIns="0" tIns="0" rIns="0" bIns="0" rtlCol="0" anchor="t"/>
          <a:lstStyle/>
          <a:p>
            <a:pPr indent="0" marL="0">
              <a:buNone/>
            </a:pPr>
            <a:r>
              <a:rPr lang="en-US" sz="2200" i="1" dirty="0">
                <a:solidFill>
                  <a:srgbClr val="F6C177"/>
                </a:solidFill>
                <a:latin typeface="Georgia" pitchFamily="34" charset="0"/>
                <a:ea typeface="Georgia" pitchFamily="34" charset="-122"/>
                <a:cs typeface="Georgia" pitchFamily="34" charset="-120"/>
              </a:rPr>
              <a:t>Will you know why finality breaks?</a:t>
            </a:r>
            <a:endParaRPr lang="en-US" sz="2200" dirty="0"/>
          </a:p>
        </p:txBody>
      </p:sp>
      <p:sp>
        <p:nvSpPr>
          <p:cNvPr id="8" name="Text 5"/>
          <p:cNvSpPr txBox="1"/>
          <p:nvPr/>
        </p:nvSpPr>
        <p:spPr>
          <a:xfrm>
            <a:off x="731520" y="5212080"/>
            <a:ext cx="1463040" cy="310896"/>
          </a:xfrm>
          <a:prstGeom prst="roundRect">
            <a:avLst>
              <a:gd name="adj" fmla="val 50000"/>
            </a:avLst>
          </a:prstGeom>
          <a:noFill/>
          <a:ln w="12700">
            <a:solidFill>
              <a:srgbClr val="F6C177"/>
            </a:solidFill>
          </a:ln>
        </p:spPr>
        <p:txBody>
          <a:bodyPr wrap="square" lIns="0" tIns="0" rIns="0" bIns="0" rtlCol="0" anchor="ctr"/>
          <a:lstStyle/>
          <a:p>
            <a:pPr algn="ctr" indent="0" marL="0">
              <a:buNone/>
            </a:pPr>
            <a:r>
              <a:rPr lang="en-US" sz="1100" b="1" dirty="0">
                <a:solidFill>
                  <a:srgbClr val="F6C177"/>
                </a:solidFill>
                <a:latin typeface="Courier New" pitchFamily="34" charset="0"/>
                <a:ea typeface="Courier New" pitchFamily="34" charset="-122"/>
                <a:cs typeface="Courier New" pitchFamily="34" charset="-120"/>
              </a:rPr>
              <a:t>OPEN SOURCE</a:t>
            </a:r>
            <a:endParaRPr lang="en-US" sz="1100" dirty="0"/>
          </a:p>
        </p:txBody>
      </p:sp>
      <p:sp>
        <p:nvSpPr>
          <p:cNvPr id="9" name="Text 6"/>
          <p:cNvSpPr txBox="1"/>
          <p:nvPr/>
        </p:nvSpPr>
        <p:spPr>
          <a:xfrm>
            <a:off x="2331720" y="5212080"/>
            <a:ext cx="1463040" cy="310896"/>
          </a:xfrm>
          <a:prstGeom prst="roundRect">
            <a:avLst>
              <a:gd name="adj" fmla="val 50000"/>
            </a:avLst>
          </a:prstGeom>
          <a:noFill/>
          <a:ln w="12700">
            <a:solidFill>
              <a:srgbClr val="F29484"/>
            </a:solidFill>
          </a:ln>
        </p:spPr>
        <p:txBody>
          <a:bodyPr wrap="square" lIns="0" tIns="0" rIns="0" bIns="0" rtlCol="0" anchor="ctr"/>
          <a:lstStyle/>
          <a:p>
            <a:pPr algn="ctr" indent="0" marL="0">
              <a:buNone/>
            </a:pPr>
            <a:r>
              <a:rPr lang="en-US" sz="1100" b="1" dirty="0">
                <a:solidFill>
                  <a:srgbClr val="F29484"/>
                </a:solidFill>
                <a:latin typeface="Courier New" pitchFamily="34" charset="0"/>
                <a:ea typeface="Courier New" pitchFamily="34" charset="-122"/>
                <a:cs typeface="Courier New" pitchFamily="34" charset="-120"/>
              </a:rPr>
              <a:t>RUST + WASM</a:t>
            </a:r>
            <a:endParaRPr lang="en-US" sz="1100" dirty="0"/>
          </a:p>
        </p:txBody>
      </p:sp>
      <p:sp>
        <p:nvSpPr>
          <p:cNvPr id="10" name="Text 7"/>
          <p:cNvSpPr txBox="1"/>
          <p:nvPr/>
        </p:nvSpPr>
        <p:spPr>
          <a:xfrm>
            <a:off x="3931920" y="5212080"/>
            <a:ext cx="2286000" cy="310896"/>
          </a:xfrm>
          <a:prstGeom prst="roundRect">
            <a:avLst>
              <a:gd name="adj" fmla="val 50000"/>
            </a:avLst>
          </a:prstGeom>
          <a:noFill/>
          <a:ln w="12700">
            <a:solidFill>
              <a:srgbClr val="9ED6E0"/>
            </a:solidFill>
          </a:ln>
        </p:spPr>
        <p:txBody>
          <a:bodyPr wrap="square" lIns="0" tIns="0" rIns="0" bIns="0" rtlCol="0" anchor="ctr"/>
          <a:lstStyle/>
          <a:p>
            <a:pPr algn="ctr" indent="0" marL="0">
              <a:buNone/>
            </a:pPr>
            <a:r>
              <a:rPr lang="en-US" sz="1100" b="1" dirty="0">
                <a:solidFill>
                  <a:srgbClr val="9ED6E0"/>
                </a:solidFill>
                <a:latin typeface="Courier New" pitchFamily="34" charset="0"/>
                <a:ea typeface="Courier New" pitchFamily="34" charset="-122"/>
                <a:cs typeface="Courier New" pitchFamily="34" charset="-120"/>
              </a:rPr>
              <a:t>RUNS IN YOUR BROWSER</a:t>
            </a:r>
            <a:endParaRPr lang="en-US" sz="1100" dirty="0"/>
          </a:p>
        </p:txBody>
      </p:sp>
      <p:sp>
        <p:nvSpPr>
          <p:cNvPr id="11" name="Shape 8"/>
          <p:cNvSpPr/>
          <p:nvPr/>
        </p:nvSpPr>
        <p:spPr>
          <a:xfrm>
            <a:off x="6583680" y="1799360"/>
            <a:ext cx="5212080" cy="3259280"/>
          </a:xfrm>
          <a:prstGeom prst="roundRect">
            <a:avLst>
              <a:gd name="adj" fmla="val 2806"/>
            </a:avLst>
          </a:prstGeom>
          <a:solidFill>
            <a:srgbClr val="0C1022"/>
          </a:solidFill>
          <a:ln w="12700">
            <a:solidFill>
              <a:srgbClr val="3A4275"/>
            </a:solidFill>
            <a:prstDash val="solid"/>
          </a:ln>
          <a:effectLst>
            <a:outerShdw sx="100000" sy="100000" kx="0" ky="0" algn="bl" rotWithShape="0" blurRad="228600" dist="76200" dir="5400000">
              <a:srgbClr val="000000">
                <a:alpha val="45000"/>
              </a:srgbClr>
            </a:outerShdw>
          </a:effectLst>
        </p:spPr>
      </p:sp>
      <p:sp>
        <p:nvSpPr>
          <p:cNvPr id="12" name="Shape 9"/>
          <p:cNvSpPr/>
          <p:nvPr/>
        </p:nvSpPr>
        <p:spPr>
          <a:xfrm>
            <a:off x="6720840" y="1890800"/>
            <a:ext cx="100584" cy="100584"/>
          </a:xfrm>
          <a:prstGeom prst="ellipse">
            <a:avLst/>
          </a:prstGeom>
          <a:solidFill>
            <a:srgbClr val="F29484"/>
          </a:solidFill>
          <a:ln w="12700">
            <a:solidFill>
              <a:srgbClr val="F29484"/>
            </a:solidFill>
            <a:prstDash val="solid"/>
          </a:ln>
        </p:spPr>
      </p:sp>
      <p:sp>
        <p:nvSpPr>
          <p:cNvPr id="13" name="Shape 10"/>
          <p:cNvSpPr/>
          <p:nvPr/>
        </p:nvSpPr>
        <p:spPr>
          <a:xfrm>
            <a:off x="6903720" y="1890800"/>
            <a:ext cx="100584" cy="100584"/>
          </a:xfrm>
          <a:prstGeom prst="ellipse">
            <a:avLst/>
          </a:prstGeom>
          <a:solidFill>
            <a:srgbClr val="F6C177"/>
          </a:solidFill>
          <a:ln w="12700">
            <a:solidFill>
              <a:srgbClr val="F6C177"/>
            </a:solidFill>
            <a:prstDash val="solid"/>
          </a:ln>
        </p:spPr>
      </p:sp>
      <p:sp>
        <p:nvSpPr>
          <p:cNvPr id="14" name="Shape 11"/>
          <p:cNvSpPr/>
          <p:nvPr/>
        </p:nvSpPr>
        <p:spPr>
          <a:xfrm>
            <a:off x="7086600" y="1890800"/>
            <a:ext cx="100584" cy="100584"/>
          </a:xfrm>
          <a:prstGeom prst="ellipse">
            <a:avLst/>
          </a:prstGeom>
          <a:solidFill>
            <a:srgbClr val="9ED6E0"/>
          </a:solidFill>
          <a:ln w="12700">
            <a:solidFill>
              <a:srgbClr val="9ED6E0"/>
            </a:solidFill>
            <a:prstDash val="solid"/>
          </a:ln>
        </p:spPr>
      </p:sp>
      <p:pic>
        <p:nvPicPr>
          <p:cNvPr id="15" name="Image 1" descr="Monocle fast-path ridge reaching 80% stake with FAST_FINALITY_ESTABLISHED">    </p:cNvPr>
          <p:cNvPicPr>
            <a:picLocks noChangeAspect="1"/>
          </p:cNvPicPr>
          <p:nvPr/>
        </p:nvPicPr>
        <p:blipFill>
          <a:blip r:embed="rId2"/>
          <a:stretch>
            <a:fillRect/>
          </a:stretch>
        </p:blipFill>
        <p:spPr>
          <a:xfrm>
            <a:off x="6620256" y="2073680"/>
            <a:ext cx="5138928" cy="2948384"/>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5B9"/>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200" b="1" spc="400" kern="0" dirty="0">
                <a:solidFill>
                  <a:srgbClr val="F6C177"/>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640080" y="1188720"/>
            <a:ext cx="5669280" cy="2194560"/>
          </a:xfrm>
          <a:prstGeom prst="rect">
            <a:avLst/>
          </a:prstGeom>
          <a:noFill/>
          <a:ln/>
        </p:spPr>
        <p:txBody>
          <a:bodyPr wrap="square" lIns="0" tIns="0" rIns="0" bIns="0" rtlCol="0" anchor="t"/>
          <a:lstStyle/>
          <a:p>
            <a:pPr indent="0" marL="0">
              <a:buNone/>
            </a:pPr>
            <a:r>
              <a:rPr lang="en-US" sz="4800" b="1" i="1" dirty="0">
                <a:solidFill>
                  <a:srgbClr val="EEF1F8"/>
                </a:solidFill>
                <a:latin typeface="Georgia" pitchFamily="34" charset="0"/>
                <a:ea typeface="Georgia" pitchFamily="34" charset="-122"/>
                <a:cs typeface="Georgia" pitchFamily="34" charset="-120"/>
              </a:rPr>
              <a:t>A red X</a:t>
            </a:r>
            <a:endParaRPr lang="en-US" sz="4800" dirty="0"/>
          </a:p>
          <a:p>
            <a:pPr indent="0" marL="0">
              <a:buNone/>
            </a:pPr>
            <a:r>
              <a:rPr lang="en-US" sz="4800" b="1" i="1" dirty="0">
                <a:solidFill>
                  <a:srgbClr val="EEF1F8"/>
                </a:solidFill>
                <a:latin typeface="Georgia" pitchFamily="34" charset="0"/>
                <a:ea typeface="Georgia" pitchFamily="34" charset="-122"/>
                <a:cs typeface="Georgia" pitchFamily="34" charset="-120"/>
              </a:rPr>
              <a:t>isn't an answer.</a:t>
            </a:r>
            <a:endParaRPr lang="en-US" sz="4800" dirty="0"/>
          </a:p>
        </p:txBody>
      </p:sp>
      <p:sp>
        <p:nvSpPr>
          <p:cNvPr id="4" name="Text 2"/>
          <p:cNvSpPr txBox="1"/>
          <p:nvPr/>
        </p:nvSpPr>
        <p:spPr>
          <a:xfrm>
            <a:off x="640080" y="3749040"/>
            <a:ext cx="5120640" cy="1097280"/>
          </a:xfrm>
          <a:prstGeom prst="rect">
            <a:avLst/>
          </a:prstGeom>
          <a:noFill/>
          <a:ln/>
        </p:spPr>
        <p:txBody>
          <a:bodyPr wrap="square" lIns="0" tIns="0" rIns="0" bIns="0" rtlCol="0" anchor="t"/>
          <a:lstStyle/>
          <a:p>
            <a:pPr indent="0" marL="0">
              <a:buNone/>
            </a:pPr>
            <a:r>
              <a:rPr lang="en-US" sz="2200" dirty="0">
                <a:solidFill>
                  <a:srgbClr val="F6C177"/>
                </a:solidFill>
                <a:latin typeface="Calibri" pitchFamily="34" charset="0"/>
                <a:ea typeface="Calibri" pitchFamily="34" charset="-122"/>
                <a:cs typeface="Calibri" pitchFamily="34" charset="-120"/>
              </a:rPr>
              <a:t>From the outside, every failure looks the same.</a:t>
            </a:r>
            <a:endParaRPr lang="en-US" sz="2200" dirty="0"/>
          </a:p>
        </p:txBody>
      </p:sp>
      <p:sp>
        <p:nvSpPr>
          <p:cNvPr id="5" name="Shape 3"/>
          <p:cNvSpPr/>
          <p:nvPr/>
        </p:nvSpPr>
        <p:spPr>
          <a:xfrm>
            <a:off x="6675120" y="822960"/>
            <a:ext cx="4937760" cy="1188720"/>
          </a:xfrm>
          <a:prstGeom prst="roundRect">
            <a:avLst>
              <a:gd name="adj" fmla="val 9231"/>
            </a:avLst>
          </a:prstGeom>
          <a:solidFill>
            <a:srgbClr val="1D2546"/>
          </a:solidFill>
          <a:ln w="12700">
            <a:solidFill>
              <a:srgbClr val="1D2546"/>
            </a:solidFill>
            <a:prstDash val="solid"/>
          </a:ln>
        </p:spPr>
      </p:sp>
      <p:sp>
        <p:nvSpPr>
          <p:cNvPr id="6" name="Text 4"/>
          <p:cNvSpPr txBox="1"/>
          <p:nvPr/>
        </p:nvSpPr>
        <p:spPr>
          <a:xfrm>
            <a:off x="6903720" y="1005840"/>
            <a:ext cx="822960" cy="822960"/>
          </a:xfrm>
          <a:prstGeom prst="rect">
            <a:avLst/>
          </a:prstGeom>
          <a:noFill/>
          <a:ln/>
        </p:spPr>
        <p:txBody>
          <a:bodyPr wrap="square" lIns="0" tIns="0" rIns="0" bIns="0" rtlCol="0" anchor="ctr"/>
          <a:lstStyle/>
          <a:p>
            <a:pPr indent="0" marL="0">
              <a:buNone/>
            </a:pPr>
            <a:r>
              <a:rPr lang="en-US" sz="3200" b="1" dirty="0">
                <a:solidFill>
                  <a:srgbClr val="F29484"/>
                </a:solidFill>
                <a:latin typeface="Georgia" pitchFamily="34" charset="0"/>
                <a:ea typeface="Georgia" pitchFamily="34" charset="-122"/>
                <a:cs typeface="Georgia" pitchFamily="34" charset="-120"/>
              </a:rPr>
              <a:t>01</a:t>
            </a:r>
            <a:endParaRPr lang="en-US" sz="3200" dirty="0"/>
          </a:p>
        </p:txBody>
      </p:sp>
      <p:sp>
        <p:nvSpPr>
          <p:cNvPr id="7" name="Text 5"/>
          <p:cNvSpPr txBox="1"/>
          <p:nvPr/>
        </p:nvSpPr>
        <p:spPr>
          <a:xfrm>
            <a:off x="7772400" y="1005840"/>
            <a:ext cx="3657600" cy="365760"/>
          </a:xfrm>
          <a:prstGeom prst="rect">
            <a:avLst/>
          </a:prstGeom>
          <a:noFill/>
          <a:ln/>
        </p:spPr>
        <p:txBody>
          <a:bodyPr wrap="square" lIns="0" tIns="0" rIns="0" bIns="0" rtlCol="0" anchor="ctr"/>
          <a:lstStyle/>
          <a:p>
            <a:pPr indent="0" marL="0">
              <a:buNone/>
            </a:pPr>
            <a:r>
              <a:rPr lang="en-US" sz="1800" b="1" dirty="0">
                <a:solidFill>
                  <a:srgbClr val="EEF1F8"/>
                </a:solidFill>
                <a:latin typeface="Calibri" pitchFamily="34" charset="0"/>
                <a:ea typeface="Calibri" pitchFamily="34" charset="-122"/>
                <a:cs typeface="Calibri" pitchFamily="34" charset="-120"/>
              </a:rPr>
              <a:t>Wrong serialization</a:t>
            </a:r>
            <a:endParaRPr lang="en-US" sz="1800" dirty="0"/>
          </a:p>
        </p:txBody>
      </p:sp>
      <p:sp>
        <p:nvSpPr>
          <p:cNvPr id="8" name="Text 6"/>
          <p:cNvSpPr txBox="1"/>
          <p:nvPr/>
        </p:nvSpPr>
        <p:spPr>
          <a:xfrm>
            <a:off x="7772400" y="1417320"/>
            <a:ext cx="3657600" cy="457200"/>
          </a:xfrm>
          <a:prstGeom prst="rect">
            <a:avLst/>
          </a:prstGeom>
          <a:noFill/>
          <a:ln/>
        </p:spPr>
        <p:txBody>
          <a:bodyPr wrap="square" lIns="0" tIns="0" rIns="0" bIns="0" rtlCol="0" anchor="t"/>
          <a:lstStyle/>
          <a:p>
            <a:pPr indent="0" marL="0">
              <a:buNone/>
            </a:pPr>
            <a:r>
              <a:rPr lang="en-US" sz="1400" dirty="0">
                <a:solidFill>
                  <a:srgbClr val="A7AFCC"/>
                </a:solidFill>
                <a:latin typeface="Calibri" pitchFamily="34" charset="0"/>
                <a:ea typeface="Calibri" pitchFamily="34" charset="-122"/>
                <a:cs typeface="Calibri" pitchFamily="34" charset="-120"/>
              </a:rPr>
              <a:t>The aggregate signature is encoded incorrectly.</a:t>
            </a:r>
            <a:endParaRPr lang="en-US" sz="1400" dirty="0"/>
          </a:p>
        </p:txBody>
      </p:sp>
      <p:sp>
        <p:nvSpPr>
          <p:cNvPr id="9" name="Shape 7"/>
          <p:cNvSpPr/>
          <p:nvPr/>
        </p:nvSpPr>
        <p:spPr>
          <a:xfrm>
            <a:off x="6675120" y="2194560"/>
            <a:ext cx="4937760" cy="1188720"/>
          </a:xfrm>
          <a:prstGeom prst="roundRect">
            <a:avLst>
              <a:gd name="adj" fmla="val 9231"/>
            </a:avLst>
          </a:prstGeom>
          <a:solidFill>
            <a:srgbClr val="1D2546"/>
          </a:solidFill>
          <a:ln w="12700">
            <a:solidFill>
              <a:srgbClr val="1D2546"/>
            </a:solidFill>
            <a:prstDash val="solid"/>
          </a:ln>
        </p:spPr>
      </p:sp>
      <p:sp>
        <p:nvSpPr>
          <p:cNvPr id="10" name="Text 8"/>
          <p:cNvSpPr txBox="1"/>
          <p:nvPr/>
        </p:nvSpPr>
        <p:spPr>
          <a:xfrm>
            <a:off x="6903720" y="2377440"/>
            <a:ext cx="822960" cy="822960"/>
          </a:xfrm>
          <a:prstGeom prst="rect">
            <a:avLst/>
          </a:prstGeom>
          <a:noFill/>
          <a:ln/>
        </p:spPr>
        <p:txBody>
          <a:bodyPr wrap="square" lIns="0" tIns="0" rIns="0" bIns="0" rtlCol="0" anchor="ctr"/>
          <a:lstStyle/>
          <a:p>
            <a:pPr indent="0" marL="0">
              <a:buNone/>
            </a:pPr>
            <a:r>
              <a:rPr lang="en-US" sz="3200" b="1" dirty="0">
                <a:solidFill>
                  <a:srgbClr val="F29484"/>
                </a:solidFill>
                <a:latin typeface="Georgia" pitchFamily="34" charset="0"/>
                <a:ea typeface="Georgia" pitchFamily="34" charset="-122"/>
                <a:cs typeface="Georgia" pitchFamily="34" charset="-120"/>
              </a:rPr>
              <a:t>02</a:t>
            </a:r>
            <a:endParaRPr lang="en-US" sz="3200" dirty="0"/>
          </a:p>
        </p:txBody>
      </p:sp>
      <p:sp>
        <p:nvSpPr>
          <p:cNvPr id="11" name="Text 9"/>
          <p:cNvSpPr txBox="1"/>
          <p:nvPr/>
        </p:nvSpPr>
        <p:spPr>
          <a:xfrm>
            <a:off x="7772400" y="2377440"/>
            <a:ext cx="3657600" cy="365760"/>
          </a:xfrm>
          <a:prstGeom prst="rect">
            <a:avLst/>
          </a:prstGeom>
          <a:noFill/>
          <a:ln/>
        </p:spPr>
        <p:txBody>
          <a:bodyPr wrap="square" lIns="0" tIns="0" rIns="0" bIns="0" rtlCol="0" anchor="ctr"/>
          <a:lstStyle/>
          <a:p>
            <a:pPr indent="0" marL="0">
              <a:buNone/>
            </a:pPr>
            <a:r>
              <a:rPr lang="en-US" sz="1800" b="1" dirty="0">
                <a:solidFill>
                  <a:srgbClr val="EEF1F8"/>
                </a:solidFill>
                <a:latin typeface="Calibri" pitchFamily="34" charset="0"/>
                <a:ea typeface="Calibri" pitchFamily="34" charset="-122"/>
                <a:cs typeface="Calibri" pitchFamily="34" charset="-120"/>
              </a:rPr>
              <a:t>Wrong signer map</a:t>
            </a:r>
            <a:endParaRPr lang="en-US" sz="1800" dirty="0"/>
          </a:p>
        </p:txBody>
      </p:sp>
      <p:sp>
        <p:nvSpPr>
          <p:cNvPr id="12" name="Text 10"/>
          <p:cNvSpPr txBox="1"/>
          <p:nvPr/>
        </p:nvSpPr>
        <p:spPr>
          <a:xfrm>
            <a:off x="7772400" y="2788920"/>
            <a:ext cx="3657600" cy="457200"/>
          </a:xfrm>
          <a:prstGeom prst="rect">
            <a:avLst/>
          </a:prstGeom>
          <a:noFill/>
          <a:ln/>
        </p:spPr>
        <p:txBody>
          <a:bodyPr wrap="square" lIns="0" tIns="0" rIns="0" bIns="0" rtlCol="0" anchor="t"/>
          <a:lstStyle/>
          <a:p>
            <a:pPr indent="0" marL="0">
              <a:buNone/>
            </a:pPr>
            <a:r>
              <a:rPr lang="en-US" sz="1400" dirty="0">
                <a:solidFill>
                  <a:srgbClr val="A7AFCC"/>
                </a:solidFill>
                <a:latin typeface="Calibri" pitchFamily="34" charset="0"/>
                <a:ea typeface="Calibri" pitchFamily="34" charset="-122"/>
                <a:cs typeface="Calibri" pitchFamily="34" charset="-120"/>
              </a:rPr>
              <a:t>Signers don't match the stake they claim.</a:t>
            </a:r>
            <a:endParaRPr lang="en-US" sz="1400" dirty="0"/>
          </a:p>
        </p:txBody>
      </p:sp>
      <p:sp>
        <p:nvSpPr>
          <p:cNvPr id="13" name="Shape 11"/>
          <p:cNvSpPr/>
          <p:nvPr/>
        </p:nvSpPr>
        <p:spPr>
          <a:xfrm>
            <a:off x="6675120" y="3566160"/>
            <a:ext cx="4937760" cy="1188720"/>
          </a:xfrm>
          <a:prstGeom prst="roundRect">
            <a:avLst>
              <a:gd name="adj" fmla="val 9231"/>
            </a:avLst>
          </a:prstGeom>
          <a:solidFill>
            <a:srgbClr val="1D2546"/>
          </a:solidFill>
          <a:ln w="12700">
            <a:solidFill>
              <a:srgbClr val="1D2546"/>
            </a:solidFill>
            <a:prstDash val="solid"/>
          </a:ln>
        </p:spPr>
      </p:sp>
      <p:sp>
        <p:nvSpPr>
          <p:cNvPr id="14" name="Text 12"/>
          <p:cNvSpPr txBox="1"/>
          <p:nvPr/>
        </p:nvSpPr>
        <p:spPr>
          <a:xfrm>
            <a:off x="6903720" y="3749040"/>
            <a:ext cx="822960" cy="822960"/>
          </a:xfrm>
          <a:prstGeom prst="rect">
            <a:avLst/>
          </a:prstGeom>
          <a:noFill/>
          <a:ln/>
        </p:spPr>
        <p:txBody>
          <a:bodyPr wrap="square" lIns="0" tIns="0" rIns="0" bIns="0" rtlCol="0" anchor="ctr"/>
          <a:lstStyle/>
          <a:p>
            <a:pPr indent="0" marL="0">
              <a:buNone/>
            </a:pPr>
            <a:r>
              <a:rPr lang="en-US" sz="3200" b="1" dirty="0">
                <a:solidFill>
                  <a:srgbClr val="F29484"/>
                </a:solidFill>
                <a:latin typeface="Georgia" pitchFamily="34" charset="0"/>
                <a:ea typeface="Georgia" pitchFamily="34" charset="-122"/>
                <a:cs typeface="Georgia" pitchFamily="34" charset="-120"/>
              </a:rPr>
              <a:t>03</a:t>
            </a:r>
            <a:endParaRPr lang="en-US" sz="3200" dirty="0"/>
          </a:p>
        </p:txBody>
      </p:sp>
      <p:sp>
        <p:nvSpPr>
          <p:cNvPr id="15" name="Text 13"/>
          <p:cNvSpPr txBox="1"/>
          <p:nvPr/>
        </p:nvSpPr>
        <p:spPr>
          <a:xfrm>
            <a:off x="7772400" y="3749040"/>
            <a:ext cx="3657600" cy="365760"/>
          </a:xfrm>
          <a:prstGeom prst="rect">
            <a:avLst/>
          </a:prstGeom>
          <a:noFill/>
          <a:ln/>
        </p:spPr>
        <p:txBody>
          <a:bodyPr wrap="square" lIns="0" tIns="0" rIns="0" bIns="0" rtlCol="0" anchor="ctr"/>
          <a:lstStyle/>
          <a:p>
            <a:pPr indent="0" marL="0">
              <a:buNone/>
            </a:pPr>
            <a:r>
              <a:rPr lang="en-US" sz="1800" b="1" dirty="0">
                <a:solidFill>
                  <a:srgbClr val="EEF1F8"/>
                </a:solidFill>
                <a:latin typeface="Calibri" pitchFamily="34" charset="0"/>
                <a:ea typeface="Calibri" pitchFamily="34" charset="-122"/>
                <a:cs typeface="Calibri" pitchFamily="34" charset="-120"/>
              </a:rPr>
              <a:t>Wrong protocol version</a:t>
            </a:r>
            <a:endParaRPr lang="en-US" sz="1800" dirty="0"/>
          </a:p>
        </p:txBody>
      </p:sp>
      <p:sp>
        <p:nvSpPr>
          <p:cNvPr id="16" name="Text 14"/>
          <p:cNvSpPr txBox="1"/>
          <p:nvPr/>
        </p:nvSpPr>
        <p:spPr>
          <a:xfrm>
            <a:off x="7772400" y="4160520"/>
            <a:ext cx="3657600" cy="457200"/>
          </a:xfrm>
          <a:prstGeom prst="rect">
            <a:avLst/>
          </a:prstGeom>
          <a:noFill/>
          <a:ln/>
        </p:spPr>
        <p:txBody>
          <a:bodyPr wrap="square" lIns="0" tIns="0" rIns="0" bIns="0" rtlCol="0" anchor="t"/>
          <a:lstStyle/>
          <a:p>
            <a:pPr indent="0" marL="0">
              <a:buNone/>
            </a:pPr>
            <a:r>
              <a:rPr lang="en-US" sz="1400" dirty="0">
                <a:solidFill>
                  <a:srgbClr val="A7AFCC"/>
                </a:solidFill>
                <a:latin typeface="Calibri" pitchFamily="34" charset="0"/>
                <a:ea typeface="Calibri" pitchFamily="34" charset="-122"/>
                <a:cs typeface="Calibri" pitchFamily="34" charset="-120"/>
              </a:rPr>
              <a:t>Valid bytes, read under the wrong rules.</a:t>
            </a:r>
            <a:endParaRPr lang="en-US" sz="1400" dirty="0"/>
          </a:p>
        </p:txBody>
      </p:sp>
      <p:sp>
        <p:nvSpPr>
          <p:cNvPr id="17" name="Shape 15"/>
          <p:cNvSpPr/>
          <p:nvPr/>
        </p:nvSpPr>
        <p:spPr>
          <a:xfrm>
            <a:off x="6675120" y="4937760"/>
            <a:ext cx="4937760" cy="1188720"/>
          </a:xfrm>
          <a:prstGeom prst="roundRect">
            <a:avLst>
              <a:gd name="adj" fmla="val 9231"/>
            </a:avLst>
          </a:prstGeom>
          <a:solidFill>
            <a:srgbClr val="1D2546"/>
          </a:solidFill>
          <a:ln w="12700">
            <a:solidFill>
              <a:srgbClr val="1D2546"/>
            </a:solidFill>
            <a:prstDash val="solid"/>
          </a:ln>
        </p:spPr>
      </p:sp>
      <p:sp>
        <p:nvSpPr>
          <p:cNvPr id="18" name="Text 16"/>
          <p:cNvSpPr txBox="1"/>
          <p:nvPr/>
        </p:nvSpPr>
        <p:spPr>
          <a:xfrm>
            <a:off x="6903720" y="5120640"/>
            <a:ext cx="822960" cy="822960"/>
          </a:xfrm>
          <a:prstGeom prst="rect">
            <a:avLst/>
          </a:prstGeom>
          <a:noFill/>
          <a:ln/>
        </p:spPr>
        <p:txBody>
          <a:bodyPr wrap="square" lIns="0" tIns="0" rIns="0" bIns="0" rtlCol="0" anchor="ctr"/>
          <a:lstStyle/>
          <a:p>
            <a:pPr indent="0" marL="0">
              <a:buNone/>
            </a:pPr>
            <a:r>
              <a:rPr lang="en-US" sz="3200" b="1" dirty="0">
                <a:solidFill>
                  <a:srgbClr val="F29484"/>
                </a:solidFill>
                <a:latin typeface="Georgia" pitchFamily="34" charset="0"/>
                <a:ea typeface="Georgia" pitchFamily="34" charset="-122"/>
                <a:cs typeface="Georgia" pitchFamily="34" charset="-120"/>
              </a:rPr>
              <a:t>04</a:t>
            </a:r>
            <a:endParaRPr lang="en-US" sz="3200" dirty="0"/>
          </a:p>
        </p:txBody>
      </p:sp>
      <p:sp>
        <p:nvSpPr>
          <p:cNvPr id="19" name="Text 17"/>
          <p:cNvSpPr txBox="1"/>
          <p:nvPr/>
        </p:nvSpPr>
        <p:spPr>
          <a:xfrm>
            <a:off x="7772400" y="5120640"/>
            <a:ext cx="3657600" cy="365760"/>
          </a:xfrm>
          <a:prstGeom prst="rect">
            <a:avLst/>
          </a:prstGeom>
          <a:noFill/>
          <a:ln/>
        </p:spPr>
        <p:txBody>
          <a:bodyPr wrap="square" lIns="0" tIns="0" rIns="0" bIns="0" rtlCol="0" anchor="ctr"/>
          <a:lstStyle/>
          <a:p>
            <a:pPr indent="0" marL="0">
              <a:buNone/>
            </a:pPr>
            <a:r>
              <a:rPr lang="en-US" sz="1800" b="1" dirty="0">
                <a:solidFill>
                  <a:srgbClr val="EEF1F8"/>
                </a:solidFill>
                <a:latin typeface="Calibri" pitchFamily="34" charset="0"/>
                <a:ea typeface="Calibri" pitchFamily="34" charset="-122"/>
                <a:cs typeface="Calibri" pitchFamily="34" charset="-120"/>
              </a:rPr>
              <a:t>Incomplete evidence</a:t>
            </a:r>
            <a:endParaRPr lang="en-US" sz="1800" dirty="0"/>
          </a:p>
        </p:txBody>
      </p:sp>
      <p:sp>
        <p:nvSpPr>
          <p:cNvPr id="20" name="Text 18"/>
          <p:cNvSpPr txBox="1"/>
          <p:nvPr/>
        </p:nvSpPr>
        <p:spPr>
          <a:xfrm>
            <a:off x="7772400" y="5532120"/>
            <a:ext cx="3657600" cy="457200"/>
          </a:xfrm>
          <a:prstGeom prst="rect">
            <a:avLst/>
          </a:prstGeom>
          <a:noFill/>
          <a:ln/>
        </p:spPr>
        <p:txBody>
          <a:bodyPr wrap="square" lIns="0" tIns="0" rIns="0" bIns="0" rtlCol="0" anchor="t"/>
          <a:lstStyle/>
          <a:p>
            <a:pPr indent="0" marL="0">
              <a:buNone/>
            </a:pPr>
            <a:r>
              <a:rPr lang="en-US" sz="1400" dirty="0">
                <a:solidFill>
                  <a:srgbClr val="A7AFCC"/>
                </a:solidFill>
                <a:latin typeface="Calibri" pitchFamily="34" charset="0"/>
                <a:ea typeface="Calibri" pitchFamily="34" charset="-122"/>
                <a:cs typeface="Calibri" pitchFamily="34" charset="-120"/>
              </a:rPr>
              <a:t>A valid notarization with no finalization.</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5B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200" b="1" spc="400" kern="0" dirty="0">
                <a:solidFill>
                  <a:srgbClr val="F6C177"/>
                </a:solidFill>
                <a:latin typeface="Calibri" pitchFamily="34" charset="0"/>
                <a:ea typeface="Calibri" pitchFamily="34" charset="-122"/>
                <a:cs typeface="Calibri" pitchFamily="34" charset="-120"/>
              </a:rPr>
              <a:t>MEET MONOCLE</a:t>
            </a:r>
            <a:endParaRPr lang="en-US" sz="1200" dirty="0"/>
          </a:p>
        </p:txBody>
      </p:sp>
      <p:sp>
        <p:nvSpPr>
          <p:cNvPr id="3" name="Text 1"/>
          <p:cNvSpPr txBox="1"/>
          <p:nvPr/>
        </p:nvSpPr>
        <p:spPr>
          <a:xfrm>
            <a:off x="640080" y="731520"/>
            <a:ext cx="10972800" cy="868680"/>
          </a:xfrm>
          <a:prstGeom prst="rect">
            <a:avLst/>
          </a:prstGeom>
          <a:noFill/>
          <a:ln/>
        </p:spPr>
        <p:txBody>
          <a:bodyPr wrap="square" lIns="0" tIns="0" rIns="0" bIns="0" rtlCol="0" anchor="t"/>
          <a:lstStyle/>
          <a:p>
            <a:pPr indent="0" marL="0">
              <a:buNone/>
            </a:pPr>
            <a:r>
              <a:rPr lang="en-US" sz="3600" b="1" dirty="0">
                <a:solidFill>
                  <a:srgbClr val="EEF1F8"/>
                </a:solidFill>
                <a:latin typeface="Georgia" pitchFamily="34" charset="0"/>
                <a:ea typeface="Georgia" pitchFamily="34" charset="-122"/>
                <a:cs typeface="Georgia" pitchFamily="34" charset="-120"/>
              </a:rPr>
              <a:t>An open-source finality debugger</a:t>
            </a:r>
            <a:endParaRPr lang="en-US" sz="3600" dirty="0"/>
          </a:p>
        </p:txBody>
      </p:sp>
      <p:sp>
        <p:nvSpPr>
          <p:cNvPr id="4" name="Shape 2"/>
          <p:cNvSpPr/>
          <p:nvPr/>
        </p:nvSpPr>
        <p:spPr>
          <a:xfrm>
            <a:off x="640080" y="2103120"/>
            <a:ext cx="3429000" cy="3108960"/>
          </a:xfrm>
          <a:prstGeom prst="roundRect">
            <a:avLst>
              <a:gd name="adj" fmla="val 3529"/>
            </a:avLst>
          </a:prstGeom>
          <a:solidFill>
            <a:srgbClr val="1D2546"/>
          </a:solidFill>
          <a:ln w="12700">
            <a:solidFill>
              <a:srgbClr val="1D2546"/>
            </a:solidFill>
            <a:prstDash val="solid"/>
          </a:ln>
        </p:spPr>
      </p:sp>
      <p:sp>
        <p:nvSpPr>
          <p:cNvPr id="5" name="Text 3"/>
          <p:cNvSpPr txBox="1"/>
          <p:nvPr/>
        </p:nvSpPr>
        <p:spPr>
          <a:xfrm>
            <a:off x="960120" y="2331720"/>
            <a:ext cx="1097280" cy="914400"/>
          </a:xfrm>
          <a:prstGeom prst="rect">
            <a:avLst/>
          </a:prstGeom>
          <a:noFill/>
          <a:ln/>
        </p:spPr>
        <p:txBody>
          <a:bodyPr wrap="square" lIns="0" tIns="0" rIns="0" bIns="0" rtlCol="0" anchor="ctr"/>
          <a:lstStyle/>
          <a:p>
            <a:pPr indent="0" marL="0">
              <a:buNone/>
            </a:pPr>
            <a:r>
              <a:rPr lang="en-US" sz="5400" b="1" dirty="0">
                <a:solidFill>
                  <a:srgbClr val="9ED6E0"/>
                </a:solidFill>
                <a:latin typeface="Georgia" pitchFamily="34" charset="0"/>
                <a:ea typeface="Georgia" pitchFamily="34" charset="-122"/>
                <a:cs typeface="Georgia" pitchFamily="34" charset="-120"/>
              </a:rPr>
              <a:t>✓</a:t>
            </a:r>
            <a:endParaRPr lang="en-US" sz="5400" dirty="0"/>
          </a:p>
        </p:txBody>
      </p:sp>
      <p:sp>
        <p:nvSpPr>
          <p:cNvPr id="6" name="Text 4"/>
          <p:cNvSpPr txBox="1"/>
          <p:nvPr/>
        </p:nvSpPr>
        <p:spPr>
          <a:xfrm>
            <a:off x="960120" y="3383280"/>
            <a:ext cx="2834640" cy="457200"/>
          </a:xfrm>
          <a:prstGeom prst="rect">
            <a:avLst/>
          </a:prstGeom>
          <a:noFill/>
          <a:ln/>
        </p:spPr>
        <p:txBody>
          <a:bodyPr wrap="square" lIns="0" tIns="0" rIns="0" bIns="0" rtlCol="0" anchor="ctr"/>
          <a:lstStyle/>
          <a:p>
            <a:pPr indent="0" marL="0">
              <a:buNone/>
            </a:pPr>
            <a:r>
              <a:rPr lang="en-US" sz="2200" b="1" dirty="0">
                <a:solidFill>
                  <a:srgbClr val="9ED6E0"/>
                </a:solidFill>
                <a:latin typeface="Courier New" pitchFamily="34" charset="0"/>
                <a:ea typeface="Courier New" pitchFamily="34" charset="-122"/>
                <a:cs typeface="Courier New" pitchFamily="34" charset="-120"/>
              </a:rPr>
              <a:t>VERIFIED</a:t>
            </a:r>
            <a:endParaRPr lang="en-US" sz="2200" dirty="0"/>
          </a:p>
        </p:txBody>
      </p:sp>
      <p:sp>
        <p:nvSpPr>
          <p:cNvPr id="7" name="Text 5"/>
          <p:cNvSpPr txBox="1"/>
          <p:nvPr/>
        </p:nvSpPr>
        <p:spPr>
          <a:xfrm>
            <a:off x="960120" y="3931920"/>
            <a:ext cx="2834640" cy="1097280"/>
          </a:xfrm>
          <a:prstGeom prst="rect">
            <a:avLst/>
          </a:prstGeom>
          <a:noFill/>
          <a:ln/>
        </p:spPr>
        <p:txBody>
          <a:bodyPr wrap="square" lIns="0" tIns="0" rIns="0" bIns="0" rtlCol="0" anchor="t"/>
          <a:lstStyle/>
          <a:p>
            <a:pPr indent="0" marL="0">
              <a:buNone/>
            </a:pPr>
            <a:r>
              <a:rPr lang="en-US" sz="1700" dirty="0">
                <a:solidFill>
                  <a:srgbClr val="EEF1F8"/>
                </a:solidFill>
                <a:latin typeface="Calibri" pitchFamily="34" charset="0"/>
                <a:ea typeface="Calibri" pitchFamily="34" charset="-122"/>
                <a:cs typeface="Calibri" pitchFamily="34" charset="-120"/>
              </a:rPr>
              <a:t>Every required check ran and passed, within a stated scope.</a:t>
            </a:r>
            <a:endParaRPr lang="en-US" sz="1700" dirty="0"/>
          </a:p>
        </p:txBody>
      </p:sp>
      <p:sp>
        <p:nvSpPr>
          <p:cNvPr id="8" name="Shape 6"/>
          <p:cNvSpPr/>
          <p:nvPr/>
        </p:nvSpPr>
        <p:spPr>
          <a:xfrm>
            <a:off x="4297680" y="2103120"/>
            <a:ext cx="3429000" cy="3108960"/>
          </a:xfrm>
          <a:prstGeom prst="roundRect">
            <a:avLst>
              <a:gd name="adj" fmla="val 3529"/>
            </a:avLst>
          </a:prstGeom>
          <a:solidFill>
            <a:srgbClr val="1D2546"/>
          </a:solidFill>
          <a:ln w="12700">
            <a:solidFill>
              <a:srgbClr val="1D2546"/>
            </a:solidFill>
            <a:prstDash val="solid"/>
          </a:ln>
        </p:spPr>
      </p:sp>
      <p:sp>
        <p:nvSpPr>
          <p:cNvPr id="9" name="Text 7"/>
          <p:cNvSpPr txBox="1"/>
          <p:nvPr/>
        </p:nvSpPr>
        <p:spPr>
          <a:xfrm>
            <a:off x="4617720" y="2331720"/>
            <a:ext cx="1097280" cy="914400"/>
          </a:xfrm>
          <a:prstGeom prst="rect">
            <a:avLst/>
          </a:prstGeom>
          <a:noFill/>
          <a:ln/>
        </p:spPr>
        <p:txBody>
          <a:bodyPr wrap="square" lIns="0" tIns="0" rIns="0" bIns="0" rtlCol="0" anchor="ctr"/>
          <a:lstStyle/>
          <a:p>
            <a:pPr indent="0" marL="0">
              <a:buNone/>
            </a:pPr>
            <a:r>
              <a:rPr lang="en-US" sz="5400" b="1" dirty="0">
                <a:solidFill>
                  <a:srgbClr val="F29484"/>
                </a:solidFill>
                <a:latin typeface="Georgia" pitchFamily="34" charset="0"/>
                <a:ea typeface="Georgia" pitchFamily="34" charset="-122"/>
                <a:cs typeface="Georgia" pitchFamily="34" charset="-120"/>
              </a:rPr>
              <a:t>×</a:t>
            </a:r>
            <a:endParaRPr lang="en-US" sz="5400" dirty="0"/>
          </a:p>
        </p:txBody>
      </p:sp>
      <p:sp>
        <p:nvSpPr>
          <p:cNvPr id="10" name="Text 8"/>
          <p:cNvSpPr txBox="1"/>
          <p:nvPr/>
        </p:nvSpPr>
        <p:spPr>
          <a:xfrm>
            <a:off x="4617720" y="3383280"/>
            <a:ext cx="2834640" cy="457200"/>
          </a:xfrm>
          <a:prstGeom prst="rect">
            <a:avLst/>
          </a:prstGeom>
          <a:noFill/>
          <a:ln/>
        </p:spPr>
        <p:txBody>
          <a:bodyPr wrap="square" lIns="0" tIns="0" rIns="0" bIns="0" rtlCol="0" anchor="ctr"/>
          <a:lstStyle/>
          <a:p>
            <a:pPr indent="0" marL="0">
              <a:buNone/>
            </a:pPr>
            <a:r>
              <a:rPr lang="en-US" sz="2200" b="1" dirty="0">
                <a:solidFill>
                  <a:srgbClr val="F29484"/>
                </a:solidFill>
                <a:latin typeface="Courier New" pitchFamily="34" charset="0"/>
                <a:ea typeface="Courier New" pitchFamily="34" charset="-122"/>
                <a:cs typeface="Courier New" pitchFamily="34" charset="-120"/>
              </a:rPr>
              <a:t>REJECTED</a:t>
            </a:r>
            <a:endParaRPr lang="en-US" sz="2200" dirty="0"/>
          </a:p>
        </p:txBody>
      </p:sp>
      <p:sp>
        <p:nvSpPr>
          <p:cNvPr id="11" name="Text 9"/>
          <p:cNvSpPr txBox="1"/>
          <p:nvPr/>
        </p:nvSpPr>
        <p:spPr>
          <a:xfrm>
            <a:off x="4617720" y="3931920"/>
            <a:ext cx="2834640" cy="1097280"/>
          </a:xfrm>
          <a:prstGeom prst="rect">
            <a:avLst/>
          </a:prstGeom>
          <a:noFill/>
          <a:ln/>
        </p:spPr>
        <p:txBody>
          <a:bodyPr wrap="square" lIns="0" tIns="0" rIns="0" bIns="0" rtlCol="0" anchor="t"/>
          <a:lstStyle/>
          <a:p>
            <a:pPr indent="0" marL="0">
              <a:buNone/>
            </a:pPr>
            <a:r>
              <a:rPr lang="en-US" sz="1700" dirty="0">
                <a:solidFill>
                  <a:srgbClr val="EEF1F8"/>
                </a:solidFill>
                <a:latin typeface="Calibri" pitchFamily="34" charset="0"/>
                <a:ea typeface="Calibri" pitchFamily="34" charset="-122"/>
                <a:cs typeface="Calibri" pitchFamily="34" charset="-120"/>
              </a:rPr>
              <a:t>A check failed. It does not prove the block is non-final.</a:t>
            </a:r>
            <a:endParaRPr lang="en-US" sz="1700" dirty="0"/>
          </a:p>
        </p:txBody>
      </p:sp>
      <p:sp>
        <p:nvSpPr>
          <p:cNvPr id="12" name="Shape 10"/>
          <p:cNvSpPr/>
          <p:nvPr/>
        </p:nvSpPr>
        <p:spPr>
          <a:xfrm>
            <a:off x="7955280" y="2103120"/>
            <a:ext cx="3429000" cy="3108960"/>
          </a:xfrm>
          <a:prstGeom prst="roundRect">
            <a:avLst>
              <a:gd name="adj" fmla="val 3529"/>
            </a:avLst>
          </a:prstGeom>
          <a:solidFill>
            <a:srgbClr val="1D2546"/>
          </a:solidFill>
          <a:ln w="12700">
            <a:solidFill>
              <a:srgbClr val="1D2546"/>
            </a:solidFill>
            <a:prstDash val="solid"/>
          </a:ln>
        </p:spPr>
      </p:sp>
      <p:sp>
        <p:nvSpPr>
          <p:cNvPr id="13" name="Text 11"/>
          <p:cNvSpPr txBox="1"/>
          <p:nvPr/>
        </p:nvSpPr>
        <p:spPr>
          <a:xfrm>
            <a:off x="8275320" y="2331720"/>
            <a:ext cx="1097280" cy="914400"/>
          </a:xfrm>
          <a:prstGeom prst="rect">
            <a:avLst/>
          </a:prstGeom>
          <a:noFill/>
          <a:ln/>
        </p:spPr>
        <p:txBody>
          <a:bodyPr wrap="square" lIns="0" tIns="0" rIns="0" bIns="0" rtlCol="0" anchor="ctr"/>
          <a:lstStyle/>
          <a:p>
            <a:pPr indent="0" marL="0">
              <a:buNone/>
            </a:pPr>
            <a:r>
              <a:rPr lang="en-US" sz="5400" b="1" dirty="0">
                <a:solidFill>
                  <a:srgbClr val="A7AFCC"/>
                </a:solidFill>
                <a:latin typeface="Georgia" pitchFamily="34" charset="0"/>
                <a:ea typeface="Georgia" pitchFamily="34" charset="-122"/>
                <a:cs typeface="Georgia" pitchFamily="34" charset="-120"/>
              </a:rPr>
              <a:t>—</a:t>
            </a:r>
            <a:endParaRPr lang="en-US" sz="5400" dirty="0"/>
          </a:p>
        </p:txBody>
      </p:sp>
      <p:sp>
        <p:nvSpPr>
          <p:cNvPr id="14" name="Text 12"/>
          <p:cNvSpPr txBox="1"/>
          <p:nvPr/>
        </p:nvSpPr>
        <p:spPr>
          <a:xfrm>
            <a:off x="8275320" y="3383280"/>
            <a:ext cx="2834640" cy="457200"/>
          </a:xfrm>
          <a:prstGeom prst="rect">
            <a:avLst/>
          </a:prstGeom>
          <a:noFill/>
          <a:ln/>
        </p:spPr>
        <p:txBody>
          <a:bodyPr wrap="square" lIns="0" tIns="0" rIns="0" bIns="0" rtlCol="0" anchor="ctr"/>
          <a:lstStyle/>
          <a:p>
            <a:pPr indent="0" marL="0">
              <a:buNone/>
            </a:pPr>
            <a:r>
              <a:rPr lang="en-US" sz="2200" b="1" dirty="0">
                <a:solidFill>
                  <a:srgbClr val="A7AFCC"/>
                </a:solidFill>
                <a:latin typeface="Courier New" pitchFamily="34" charset="0"/>
                <a:ea typeface="Courier New" pitchFamily="34" charset="-122"/>
                <a:cs typeface="Courier New" pitchFamily="34" charset="-120"/>
              </a:rPr>
              <a:t>INCONCLUSIVE</a:t>
            </a:r>
            <a:endParaRPr lang="en-US" sz="2200" dirty="0"/>
          </a:p>
        </p:txBody>
      </p:sp>
      <p:sp>
        <p:nvSpPr>
          <p:cNvPr id="15" name="Text 13"/>
          <p:cNvSpPr txBox="1"/>
          <p:nvPr/>
        </p:nvSpPr>
        <p:spPr>
          <a:xfrm>
            <a:off x="8275320" y="3931920"/>
            <a:ext cx="2834640" cy="1097280"/>
          </a:xfrm>
          <a:prstGeom prst="rect">
            <a:avLst/>
          </a:prstGeom>
          <a:noFill/>
          <a:ln/>
        </p:spPr>
        <p:txBody>
          <a:bodyPr wrap="square" lIns="0" tIns="0" rIns="0" bIns="0" rtlCol="0" anchor="t"/>
          <a:lstStyle/>
          <a:p>
            <a:pPr indent="0" marL="0">
              <a:buNone/>
            </a:pPr>
            <a:r>
              <a:rPr lang="en-US" sz="1700" dirty="0">
                <a:solidFill>
                  <a:srgbClr val="EEF1F8"/>
                </a:solidFill>
                <a:latin typeface="Calibri" pitchFamily="34" charset="0"/>
                <a:ea typeface="Calibri" pitchFamily="34" charset="-122"/>
                <a:cs typeface="Calibri" pitchFamily="34" charset="-120"/>
              </a:rPr>
              <a:t>Context is missing. Nothing is guessed.</a:t>
            </a:r>
            <a:endParaRPr lang="en-US" sz="1700" dirty="0"/>
          </a:p>
        </p:txBody>
      </p:sp>
      <p:sp>
        <p:nvSpPr>
          <p:cNvPr id="16" name="Text 14"/>
          <p:cNvSpPr txBox="1"/>
          <p:nvPr/>
        </p:nvSpPr>
        <p:spPr>
          <a:xfrm>
            <a:off x="640080" y="5577840"/>
            <a:ext cx="10881360" cy="365760"/>
          </a:xfrm>
          <a:prstGeom prst="rect">
            <a:avLst/>
          </a:prstGeom>
          <a:noFill/>
          <a:ln/>
        </p:spPr>
        <p:txBody>
          <a:bodyPr wrap="square" lIns="0" tIns="0" rIns="0" bIns="0" rtlCol="0" anchor="ctr"/>
          <a:lstStyle/>
          <a:p>
            <a:pPr indent="0" marL="0">
              <a:buNone/>
            </a:pPr>
            <a:r>
              <a:rPr lang="en-US" sz="1600" i="1" dirty="0">
                <a:solidFill>
                  <a:srgbClr val="A7AFCC"/>
                </a:solidFill>
                <a:latin typeface="Georgia" pitchFamily="34" charset="0"/>
                <a:ea typeface="Georgia" pitchFamily="34" charset="-122"/>
                <a:cs typeface="Georgia" pitchFamily="34" charset="-120"/>
              </a:rPr>
              <a:t>It runs in your browser. No wallet. No RPC. Nothing to install.</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5B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200" b="1" spc="400" kern="0" dirty="0">
                <a:solidFill>
                  <a:srgbClr val="F6C177"/>
                </a:solidFill>
                <a:latin typeface="Calibri" pitchFamily="34" charset="0"/>
                <a:ea typeface="Calibri" pitchFamily="34" charset="-122"/>
                <a:cs typeface="Calibri" pitchFamily="34" charset="-120"/>
              </a:rPr>
              <a:t>THE DEMO</a:t>
            </a:r>
            <a:endParaRPr lang="en-US" sz="1200" dirty="0"/>
          </a:p>
        </p:txBody>
      </p:sp>
      <p:sp>
        <p:nvSpPr>
          <p:cNvPr id="3" name="Text 1"/>
          <p:cNvSpPr txBox="1"/>
          <p:nvPr/>
        </p:nvSpPr>
        <p:spPr>
          <a:xfrm>
            <a:off x="640080" y="1371600"/>
            <a:ext cx="640080" cy="822960"/>
          </a:xfrm>
          <a:prstGeom prst="rect">
            <a:avLst/>
          </a:prstGeom>
          <a:noFill/>
          <a:ln/>
        </p:spPr>
        <p:txBody>
          <a:bodyPr wrap="square" lIns="0" tIns="0" rIns="0" bIns="0" rtlCol="0" anchor="ctr"/>
          <a:lstStyle/>
          <a:p>
            <a:pPr indent="0" marL="0">
              <a:buNone/>
            </a:pPr>
            <a:r>
              <a:rPr lang="en-US" sz="4400" b="1" dirty="0">
                <a:solidFill>
                  <a:srgbClr val="F6C177"/>
                </a:solidFill>
                <a:latin typeface="Georgia" pitchFamily="34" charset="0"/>
                <a:ea typeface="Georgia" pitchFamily="34" charset="-122"/>
                <a:cs typeface="Georgia" pitchFamily="34" charset="-120"/>
              </a:rPr>
              <a:t>1</a:t>
            </a:r>
            <a:endParaRPr lang="en-US" sz="4400" dirty="0"/>
          </a:p>
        </p:txBody>
      </p:sp>
      <p:sp>
        <p:nvSpPr>
          <p:cNvPr id="4" name="Text 2"/>
          <p:cNvSpPr txBox="1"/>
          <p:nvPr/>
        </p:nvSpPr>
        <p:spPr>
          <a:xfrm>
            <a:off x="1417320" y="1389888"/>
            <a:ext cx="3108960" cy="457200"/>
          </a:xfrm>
          <a:prstGeom prst="rect">
            <a:avLst/>
          </a:prstGeom>
          <a:noFill/>
          <a:ln/>
        </p:spPr>
        <p:txBody>
          <a:bodyPr wrap="square" lIns="0" tIns="0" rIns="0" bIns="0" rtlCol="0" anchor="ctr"/>
          <a:lstStyle/>
          <a:p>
            <a:pPr indent="0" marL="0">
              <a:buNone/>
            </a:pPr>
            <a:r>
              <a:rPr lang="en-US" sz="1900" b="1" dirty="0">
                <a:solidFill>
                  <a:srgbClr val="EEF1F8"/>
                </a:solidFill>
                <a:latin typeface="Calibri" pitchFamily="34" charset="0"/>
                <a:ea typeface="Calibri" pitchFamily="34" charset="-122"/>
                <a:cs typeface="Calibri" pitchFamily="34" charset="-120"/>
              </a:rPr>
              <a:t>You choose the checkpoint</a:t>
            </a:r>
            <a:endParaRPr lang="en-US" sz="1900" dirty="0"/>
          </a:p>
        </p:txBody>
      </p:sp>
      <p:sp>
        <p:nvSpPr>
          <p:cNvPr id="5" name="Text 3"/>
          <p:cNvSpPr txBox="1"/>
          <p:nvPr/>
        </p:nvSpPr>
        <p:spPr>
          <a:xfrm>
            <a:off x="1417320" y="1847088"/>
            <a:ext cx="3108960" cy="731520"/>
          </a:xfrm>
          <a:prstGeom prst="rect">
            <a:avLst/>
          </a:prstGeom>
          <a:noFill/>
          <a:ln/>
        </p:spPr>
        <p:txBody>
          <a:bodyPr wrap="square" lIns="0" tIns="0" rIns="0" bIns="0" rtlCol="0" anchor="t"/>
          <a:lstStyle/>
          <a:p>
            <a:pPr indent="0" marL="0">
              <a:buNone/>
            </a:pPr>
            <a:r>
              <a:rPr lang="en-US" sz="1400" dirty="0">
                <a:solidFill>
                  <a:srgbClr val="A7AFCC"/>
                </a:solidFill>
                <a:latin typeface="Calibri" pitchFamily="34" charset="0"/>
                <a:ea typeface="Calibri" pitchFamily="34" charset="-122"/>
                <a:cs typeface="Calibri" pitchFamily="34" charset="-120"/>
              </a:rPr>
              <a:t>Monocle never decides what to trust.</a:t>
            </a:r>
            <a:endParaRPr lang="en-US" sz="1400" dirty="0"/>
          </a:p>
        </p:txBody>
      </p:sp>
      <p:sp>
        <p:nvSpPr>
          <p:cNvPr id="6" name="Text 4"/>
          <p:cNvSpPr txBox="1"/>
          <p:nvPr/>
        </p:nvSpPr>
        <p:spPr>
          <a:xfrm>
            <a:off x="640080" y="2926080"/>
            <a:ext cx="640080" cy="822960"/>
          </a:xfrm>
          <a:prstGeom prst="rect">
            <a:avLst/>
          </a:prstGeom>
          <a:noFill/>
          <a:ln/>
        </p:spPr>
        <p:txBody>
          <a:bodyPr wrap="square" lIns="0" tIns="0" rIns="0" bIns="0" rtlCol="0" anchor="ctr"/>
          <a:lstStyle/>
          <a:p>
            <a:pPr indent="0" marL="0">
              <a:buNone/>
            </a:pPr>
            <a:r>
              <a:rPr lang="en-US" sz="4400" b="1" dirty="0">
                <a:solidFill>
                  <a:srgbClr val="F29484"/>
                </a:solidFill>
                <a:latin typeface="Georgia" pitchFamily="34" charset="0"/>
                <a:ea typeface="Georgia" pitchFamily="34" charset="-122"/>
                <a:cs typeface="Georgia" pitchFamily="34" charset="-120"/>
              </a:rPr>
              <a:t>2</a:t>
            </a:r>
            <a:endParaRPr lang="en-US" sz="4400" dirty="0"/>
          </a:p>
        </p:txBody>
      </p:sp>
      <p:sp>
        <p:nvSpPr>
          <p:cNvPr id="7" name="Text 5"/>
          <p:cNvSpPr txBox="1"/>
          <p:nvPr/>
        </p:nvSpPr>
        <p:spPr>
          <a:xfrm>
            <a:off x="1417320" y="2944368"/>
            <a:ext cx="3108960" cy="457200"/>
          </a:xfrm>
          <a:prstGeom prst="rect">
            <a:avLst/>
          </a:prstGeom>
          <a:noFill/>
          <a:ln/>
        </p:spPr>
        <p:txBody>
          <a:bodyPr wrap="square" lIns="0" tIns="0" rIns="0" bIns="0" rtlCol="0" anchor="ctr"/>
          <a:lstStyle/>
          <a:p>
            <a:pPr indent="0" marL="0">
              <a:buNone/>
            </a:pPr>
            <a:r>
              <a:rPr lang="en-US" sz="1900" b="1" dirty="0">
                <a:solidFill>
                  <a:srgbClr val="EEF1F8"/>
                </a:solidFill>
                <a:latin typeface="Calibri" pitchFamily="34" charset="0"/>
                <a:ea typeface="Calibri" pitchFamily="34" charset="-122"/>
                <a:cs typeface="Calibri" pitchFamily="34" charset="-120"/>
              </a:rPr>
              <a:t>Verify the evidence</a:t>
            </a:r>
            <a:endParaRPr lang="en-US" sz="1900" dirty="0"/>
          </a:p>
        </p:txBody>
      </p:sp>
      <p:sp>
        <p:nvSpPr>
          <p:cNvPr id="8" name="Text 6"/>
          <p:cNvSpPr txBox="1"/>
          <p:nvPr/>
        </p:nvSpPr>
        <p:spPr>
          <a:xfrm>
            <a:off x="1417320" y="3401568"/>
            <a:ext cx="3108960" cy="731520"/>
          </a:xfrm>
          <a:prstGeom prst="rect">
            <a:avLst/>
          </a:prstGeom>
          <a:noFill/>
          <a:ln/>
        </p:spPr>
        <p:txBody>
          <a:bodyPr wrap="square" lIns="0" tIns="0" rIns="0" bIns="0" rtlCol="0" anchor="t"/>
          <a:lstStyle/>
          <a:p>
            <a:pPr indent="0" marL="0">
              <a:buNone/>
            </a:pPr>
            <a:r>
              <a:rPr lang="en-US" sz="1400" dirty="0">
                <a:solidFill>
                  <a:srgbClr val="A7AFCC"/>
                </a:solidFill>
                <a:latin typeface="Calibri" pitchFamily="34" charset="0"/>
                <a:ea typeface="Calibri" pitchFamily="34" charset="-122"/>
                <a:cs typeface="Calibri" pitchFamily="34" charset="-120"/>
              </a:rPr>
              <a:t>A signed Alpenglow certificate, checked in your browser.</a:t>
            </a:r>
            <a:endParaRPr lang="en-US" sz="1400" dirty="0"/>
          </a:p>
        </p:txBody>
      </p:sp>
      <p:sp>
        <p:nvSpPr>
          <p:cNvPr id="9" name="Text 7"/>
          <p:cNvSpPr txBox="1"/>
          <p:nvPr/>
        </p:nvSpPr>
        <p:spPr>
          <a:xfrm>
            <a:off x="640080" y="4480560"/>
            <a:ext cx="640080" cy="822960"/>
          </a:xfrm>
          <a:prstGeom prst="rect">
            <a:avLst/>
          </a:prstGeom>
          <a:noFill/>
          <a:ln/>
        </p:spPr>
        <p:txBody>
          <a:bodyPr wrap="square" lIns="0" tIns="0" rIns="0" bIns="0" rtlCol="0" anchor="ctr"/>
          <a:lstStyle/>
          <a:p>
            <a:pPr indent="0" marL="0">
              <a:buNone/>
            </a:pPr>
            <a:r>
              <a:rPr lang="en-US" sz="4400" b="1" dirty="0">
                <a:solidFill>
                  <a:srgbClr val="9ED6E0"/>
                </a:solidFill>
                <a:latin typeface="Georgia" pitchFamily="34" charset="0"/>
                <a:ea typeface="Georgia" pitchFamily="34" charset="-122"/>
                <a:cs typeface="Georgia" pitchFamily="34" charset="-120"/>
              </a:rPr>
              <a:t>3</a:t>
            </a:r>
            <a:endParaRPr lang="en-US" sz="4400" dirty="0"/>
          </a:p>
        </p:txBody>
      </p:sp>
      <p:sp>
        <p:nvSpPr>
          <p:cNvPr id="10" name="Text 8"/>
          <p:cNvSpPr txBox="1"/>
          <p:nvPr/>
        </p:nvSpPr>
        <p:spPr>
          <a:xfrm>
            <a:off x="1417320" y="4498848"/>
            <a:ext cx="3108960" cy="457200"/>
          </a:xfrm>
          <a:prstGeom prst="rect">
            <a:avLst/>
          </a:prstGeom>
          <a:noFill/>
          <a:ln/>
        </p:spPr>
        <p:txBody>
          <a:bodyPr wrap="square" lIns="0" tIns="0" rIns="0" bIns="0" rtlCol="0" anchor="ctr"/>
          <a:lstStyle/>
          <a:p>
            <a:pPr indent="0" marL="0">
              <a:buNone/>
            </a:pPr>
            <a:r>
              <a:rPr lang="en-US" sz="1900" b="1" dirty="0">
                <a:solidFill>
                  <a:srgbClr val="EEF1F8"/>
                </a:solidFill>
                <a:latin typeface="Calibri" pitchFamily="34" charset="0"/>
                <a:ea typeface="Calibri" pitchFamily="34" charset="-122"/>
                <a:cs typeface="Calibri" pitchFamily="34" charset="-120"/>
              </a:rPr>
              <a:t>Verified: 80 / 100</a:t>
            </a:r>
            <a:endParaRPr lang="en-US" sz="1900" dirty="0"/>
          </a:p>
        </p:txBody>
      </p:sp>
      <p:sp>
        <p:nvSpPr>
          <p:cNvPr id="11" name="Text 9"/>
          <p:cNvSpPr txBox="1"/>
          <p:nvPr/>
        </p:nvSpPr>
        <p:spPr>
          <a:xfrm>
            <a:off x="1417320" y="4956048"/>
            <a:ext cx="3108960" cy="731520"/>
          </a:xfrm>
          <a:prstGeom prst="rect">
            <a:avLst/>
          </a:prstGeom>
          <a:noFill/>
          <a:ln/>
        </p:spPr>
        <p:txBody>
          <a:bodyPr wrap="square" lIns="0" tIns="0" rIns="0" bIns="0" rtlCol="0" anchor="t"/>
          <a:lstStyle/>
          <a:p>
            <a:pPr indent="0" marL="0">
              <a:buNone/>
            </a:pPr>
            <a:r>
              <a:rPr lang="en-US" sz="1400" dirty="0">
                <a:solidFill>
                  <a:srgbClr val="A7AFCC"/>
                </a:solidFill>
                <a:latin typeface="Calibri" pitchFamily="34" charset="0"/>
                <a:ea typeface="Calibri" pitchFamily="34" charset="-122"/>
                <a:cs typeface="Calibri" pitchFamily="34" charset="-120"/>
              </a:rPr>
              <a:t>Enough stake to clear the fast-path line.</a:t>
            </a:r>
            <a:endParaRPr lang="en-US" sz="1400" dirty="0"/>
          </a:p>
        </p:txBody>
      </p:sp>
      <p:sp>
        <p:nvSpPr>
          <p:cNvPr id="12" name="Text 10"/>
          <p:cNvSpPr txBox="1"/>
          <p:nvPr/>
        </p:nvSpPr>
        <p:spPr>
          <a:xfrm>
            <a:off x="640080" y="5989320"/>
            <a:ext cx="4206240" cy="457200"/>
          </a:xfrm>
          <a:prstGeom prst="rect">
            <a:avLst/>
          </a:prstGeom>
          <a:noFill/>
          <a:ln/>
        </p:spPr>
        <p:txBody>
          <a:bodyPr wrap="square" lIns="0" tIns="0" rIns="0" bIns="0" rtlCol="0" anchor="t"/>
          <a:lstStyle/>
          <a:p>
            <a:pPr indent="0" marL="0">
              <a:buNone/>
            </a:pPr>
            <a:r>
              <a:rPr lang="en-US" sz="1200" i="1" dirty="0">
                <a:solidFill>
                  <a:srgbClr val="8C95B9"/>
                </a:solidFill>
                <a:latin typeface="Calibri" pitchFamily="34" charset="0"/>
                <a:ea typeface="Calibri" pitchFamily="34" charset="-122"/>
                <a:cs typeface="Calibri" pitchFamily="34" charset="-120"/>
              </a:rPr>
              <a:t>Synthetic test data: public test keys and invented stake.</a:t>
            </a:r>
            <a:endParaRPr lang="en-US" sz="1200" dirty="0"/>
          </a:p>
        </p:txBody>
      </p:sp>
      <p:sp>
        <p:nvSpPr>
          <p:cNvPr id="13" name="Shape 11"/>
          <p:cNvSpPr/>
          <p:nvPr/>
        </p:nvSpPr>
        <p:spPr>
          <a:xfrm>
            <a:off x="4846320" y="942340"/>
            <a:ext cx="6766560" cy="4973320"/>
          </a:xfrm>
          <a:prstGeom prst="roundRect">
            <a:avLst>
              <a:gd name="adj" fmla="val 1839"/>
            </a:avLst>
          </a:prstGeom>
          <a:solidFill>
            <a:srgbClr val="0C1022"/>
          </a:solidFill>
          <a:ln w="12700">
            <a:solidFill>
              <a:srgbClr val="3A4275"/>
            </a:solidFill>
            <a:prstDash val="solid"/>
          </a:ln>
          <a:effectLst>
            <a:outerShdw sx="100000" sy="100000" kx="0" ky="0" algn="bl" rotWithShape="0" blurRad="228600" dist="76200" dir="5400000">
              <a:srgbClr val="000000">
                <a:alpha val="45000"/>
              </a:srgbClr>
            </a:outerShdw>
          </a:effectLst>
        </p:spPr>
      </p:sp>
      <p:sp>
        <p:nvSpPr>
          <p:cNvPr id="14" name="Shape 12"/>
          <p:cNvSpPr/>
          <p:nvPr/>
        </p:nvSpPr>
        <p:spPr>
          <a:xfrm>
            <a:off x="4983480" y="1033780"/>
            <a:ext cx="100584" cy="100584"/>
          </a:xfrm>
          <a:prstGeom prst="ellipse">
            <a:avLst/>
          </a:prstGeom>
          <a:solidFill>
            <a:srgbClr val="F29484"/>
          </a:solidFill>
          <a:ln w="12700">
            <a:solidFill>
              <a:srgbClr val="F29484"/>
            </a:solidFill>
            <a:prstDash val="solid"/>
          </a:ln>
        </p:spPr>
      </p:sp>
      <p:sp>
        <p:nvSpPr>
          <p:cNvPr id="15" name="Shape 13"/>
          <p:cNvSpPr/>
          <p:nvPr/>
        </p:nvSpPr>
        <p:spPr>
          <a:xfrm>
            <a:off x="5166360" y="1033780"/>
            <a:ext cx="100584" cy="100584"/>
          </a:xfrm>
          <a:prstGeom prst="ellipse">
            <a:avLst/>
          </a:prstGeom>
          <a:solidFill>
            <a:srgbClr val="F6C177"/>
          </a:solidFill>
          <a:ln w="12700">
            <a:solidFill>
              <a:srgbClr val="F6C177"/>
            </a:solidFill>
            <a:prstDash val="solid"/>
          </a:ln>
        </p:spPr>
      </p:sp>
      <p:sp>
        <p:nvSpPr>
          <p:cNvPr id="16" name="Shape 14"/>
          <p:cNvSpPr/>
          <p:nvPr/>
        </p:nvSpPr>
        <p:spPr>
          <a:xfrm>
            <a:off x="5349240" y="1033780"/>
            <a:ext cx="100584" cy="100584"/>
          </a:xfrm>
          <a:prstGeom prst="ellipse">
            <a:avLst/>
          </a:prstGeom>
          <a:solidFill>
            <a:srgbClr val="9ED6E0"/>
          </a:solidFill>
          <a:ln w="12700">
            <a:solidFill>
              <a:srgbClr val="9ED6E0"/>
            </a:solidFill>
            <a:prstDash val="solid"/>
          </a:ln>
        </p:spPr>
      </p:sp>
      <p:pic>
        <p:nvPicPr>
          <p:cNvPr id="17" name="Image 0" descr="Monocle inspector with checkpoint selected and Fast finality verified">    </p:cNvPr>
          <p:cNvPicPr>
            <a:picLocks noChangeAspect="1"/>
          </p:cNvPicPr>
          <p:nvPr/>
        </p:nvPicPr>
        <p:blipFill>
          <a:blip r:embed="rId1"/>
          <a:stretch>
            <a:fillRect/>
          </a:stretch>
        </p:blipFill>
        <p:spPr>
          <a:xfrm>
            <a:off x="4882896" y="1216660"/>
            <a:ext cx="6693408" cy="4662424"/>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5B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1874520"/>
            <a:ext cx="8229600" cy="274320"/>
          </a:xfrm>
          <a:prstGeom prst="rect">
            <a:avLst/>
          </a:prstGeom>
          <a:noFill/>
          <a:ln/>
        </p:spPr>
        <p:txBody>
          <a:bodyPr wrap="square" lIns="0" tIns="0" rIns="0" bIns="0" rtlCol="0" anchor="ctr"/>
          <a:lstStyle/>
          <a:p>
            <a:pPr indent="0" marL="0">
              <a:buNone/>
            </a:pPr>
            <a:r>
              <a:rPr lang="en-US" sz="1200" b="1" spc="400" kern="0" dirty="0">
                <a:solidFill>
                  <a:srgbClr val="F6C177"/>
                </a:solidFill>
                <a:latin typeface="Calibri" pitchFamily="34" charset="0"/>
                <a:ea typeface="Calibri" pitchFamily="34" charset="-122"/>
                <a:cs typeface="Calibri" pitchFamily="34" charset="-120"/>
              </a:rPr>
              <a:t>THE TRACE</a:t>
            </a:r>
            <a:endParaRPr lang="en-US" sz="1200" dirty="0"/>
          </a:p>
        </p:txBody>
      </p:sp>
      <p:sp>
        <p:nvSpPr>
          <p:cNvPr id="3" name="Text 1"/>
          <p:cNvSpPr txBox="1"/>
          <p:nvPr/>
        </p:nvSpPr>
        <p:spPr>
          <a:xfrm>
            <a:off x="640080" y="2194560"/>
            <a:ext cx="4206240" cy="1188720"/>
          </a:xfrm>
          <a:prstGeom prst="rect">
            <a:avLst/>
          </a:prstGeom>
          <a:noFill/>
          <a:ln/>
        </p:spPr>
        <p:txBody>
          <a:bodyPr wrap="square" lIns="0" tIns="0" rIns="0" bIns="0" rtlCol="0" anchor="t"/>
          <a:lstStyle/>
          <a:p>
            <a:pPr indent="0" marL="0">
              <a:buNone/>
            </a:pPr>
            <a:r>
              <a:rPr lang="en-US" sz="3400" b="1" dirty="0">
                <a:solidFill>
                  <a:srgbClr val="EEF1F8"/>
                </a:solidFill>
                <a:latin typeface="Georgia" pitchFamily="34" charset="0"/>
                <a:ea typeface="Georgia" pitchFamily="34" charset="-122"/>
                <a:cs typeface="Georgia" pitchFamily="34" charset="-120"/>
              </a:rPr>
              <a:t>Every check,</a:t>
            </a:r>
            <a:endParaRPr lang="en-US" sz="3400" dirty="0"/>
          </a:p>
          <a:p>
            <a:pPr indent="0" marL="0">
              <a:buNone/>
            </a:pPr>
            <a:r>
              <a:rPr lang="en-US" sz="3400" b="1" dirty="0">
                <a:solidFill>
                  <a:srgbClr val="EEF1F8"/>
                </a:solidFill>
                <a:latin typeface="Georgia" pitchFamily="34" charset="0"/>
                <a:ea typeface="Georgia" pitchFamily="34" charset="-122"/>
                <a:cs typeface="Georgia" pitchFamily="34" charset="-120"/>
              </a:rPr>
              <a:t>in plain sight</a:t>
            </a:r>
            <a:endParaRPr lang="en-US" sz="3400" dirty="0"/>
          </a:p>
        </p:txBody>
      </p:sp>
      <p:sp>
        <p:nvSpPr>
          <p:cNvPr id="4" name="Text 2"/>
          <p:cNvSpPr txBox="1"/>
          <p:nvPr/>
        </p:nvSpPr>
        <p:spPr>
          <a:xfrm>
            <a:off x="640080" y="3611880"/>
            <a:ext cx="4206240" cy="1280160"/>
          </a:xfrm>
          <a:prstGeom prst="rect">
            <a:avLst/>
          </a:prstGeom>
          <a:noFill/>
          <a:ln/>
        </p:spPr>
        <p:txBody>
          <a:bodyPr wrap="square" lIns="0" tIns="0" rIns="0" bIns="0" rtlCol="0" anchor="t"/>
          <a:lstStyle/>
          <a:p>
            <a:pPr indent="0" marL="0">
              <a:buNone/>
            </a:pPr>
            <a:r>
              <a:rPr lang="en-US" sz="1800" dirty="0">
                <a:solidFill>
                  <a:srgbClr val="A7AFCC"/>
                </a:solidFill>
                <a:latin typeface="Calibri" pitchFamily="34" charset="0"/>
                <a:ea typeface="Calibri" pitchFamily="34" charset="-122"/>
                <a:cs typeface="Calibri" pitchFamily="34" charset="-120"/>
              </a:rPr>
              <a:t>Each step shows its status, a readable reason and an exact diagnostic code. Nothing is hidden.</a:t>
            </a:r>
            <a:endParaRPr lang="en-US" sz="1800" dirty="0"/>
          </a:p>
        </p:txBody>
      </p:sp>
      <p:sp>
        <p:nvSpPr>
          <p:cNvPr id="5" name="Shape 3"/>
          <p:cNvSpPr/>
          <p:nvPr/>
        </p:nvSpPr>
        <p:spPr>
          <a:xfrm>
            <a:off x="5212080" y="1554480"/>
            <a:ext cx="6400800" cy="3749040"/>
          </a:xfrm>
          <a:prstGeom prst="roundRect">
            <a:avLst>
              <a:gd name="adj" fmla="val 2439"/>
            </a:avLst>
          </a:prstGeom>
          <a:solidFill>
            <a:srgbClr val="0C1022"/>
          </a:solidFill>
          <a:ln w="12700">
            <a:solidFill>
              <a:srgbClr val="3A4275"/>
            </a:solidFill>
            <a:prstDash val="solid"/>
          </a:ln>
          <a:effectLst>
            <a:outerShdw sx="100000" sy="100000" kx="0" ky="0" algn="bl" rotWithShape="0" blurRad="228600" dist="76200" dir="5400000">
              <a:srgbClr val="000000">
                <a:alpha val="45000"/>
              </a:srgbClr>
            </a:outerShdw>
          </a:effectLst>
        </p:spPr>
      </p:sp>
      <p:sp>
        <p:nvSpPr>
          <p:cNvPr id="6" name="Shape 4"/>
          <p:cNvSpPr/>
          <p:nvPr/>
        </p:nvSpPr>
        <p:spPr>
          <a:xfrm>
            <a:off x="5349240" y="1645920"/>
            <a:ext cx="100584" cy="100584"/>
          </a:xfrm>
          <a:prstGeom prst="ellipse">
            <a:avLst/>
          </a:prstGeom>
          <a:solidFill>
            <a:srgbClr val="F29484"/>
          </a:solidFill>
          <a:ln w="12700">
            <a:solidFill>
              <a:srgbClr val="F29484"/>
            </a:solidFill>
            <a:prstDash val="solid"/>
          </a:ln>
        </p:spPr>
      </p:sp>
      <p:sp>
        <p:nvSpPr>
          <p:cNvPr id="7" name="Shape 5"/>
          <p:cNvSpPr/>
          <p:nvPr/>
        </p:nvSpPr>
        <p:spPr>
          <a:xfrm>
            <a:off x="5532120" y="1645920"/>
            <a:ext cx="100584" cy="100584"/>
          </a:xfrm>
          <a:prstGeom prst="ellipse">
            <a:avLst/>
          </a:prstGeom>
          <a:solidFill>
            <a:srgbClr val="F6C177"/>
          </a:solidFill>
          <a:ln w="12700">
            <a:solidFill>
              <a:srgbClr val="F6C177"/>
            </a:solidFill>
            <a:prstDash val="solid"/>
          </a:ln>
        </p:spPr>
      </p:sp>
      <p:sp>
        <p:nvSpPr>
          <p:cNvPr id="8" name="Shape 6"/>
          <p:cNvSpPr/>
          <p:nvPr/>
        </p:nvSpPr>
        <p:spPr>
          <a:xfrm>
            <a:off x="5715000" y="1645920"/>
            <a:ext cx="100584" cy="100584"/>
          </a:xfrm>
          <a:prstGeom prst="ellipse">
            <a:avLst/>
          </a:prstGeom>
          <a:solidFill>
            <a:srgbClr val="9ED6E0"/>
          </a:solidFill>
          <a:ln w="12700">
            <a:solidFill>
              <a:srgbClr val="9ED6E0"/>
            </a:solidFill>
            <a:prstDash val="solid"/>
          </a:ln>
        </p:spPr>
      </p:sp>
      <p:pic>
        <p:nvPicPr>
          <p:cNvPr id="9" name="Image 0" descr="Monocle verification trace: input, profile, context and finality all pass">    </p:cNvPr>
          <p:cNvPicPr>
            <a:picLocks noChangeAspect="1"/>
          </p:cNvPicPr>
          <p:nvPr/>
        </p:nvPicPr>
        <p:blipFill>
          <a:blip r:embed="rId1"/>
          <a:stretch>
            <a:fillRect/>
          </a:stretch>
        </p:blipFill>
        <p:spPr>
          <a:xfrm>
            <a:off x="5248656" y="1828800"/>
            <a:ext cx="6327648" cy="3438144"/>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5B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2011680"/>
            <a:ext cx="8229600" cy="274320"/>
          </a:xfrm>
          <a:prstGeom prst="rect">
            <a:avLst/>
          </a:prstGeom>
          <a:noFill/>
          <a:ln/>
        </p:spPr>
        <p:txBody>
          <a:bodyPr wrap="square" lIns="0" tIns="0" rIns="0" bIns="0" rtlCol="0" anchor="ctr"/>
          <a:lstStyle/>
          <a:p>
            <a:pPr indent="0" marL="0">
              <a:buNone/>
            </a:pPr>
            <a:r>
              <a:rPr lang="en-US" sz="1200" b="1" spc="400" kern="0" dirty="0">
                <a:solidFill>
                  <a:srgbClr val="F6C177"/>
                </a:solidFill>
                <a:latin typeface="Calibri" pitchFamily="34" charset="0"/>
                <a:ea typeface="Calibri" pitchFamily="34" charset="-122"/>
                <a:cs typeface="Calibri" pitchFamily="34" charset="-120"/>
              </a:rPr>
              <a:t>NOW, BREAK IT</a:t>
            </a:r>
            <a:endParaRPr lang="en-US" sz="1200" dirty="0"/>
          </a:p>
        </p:txBody>
      </p:sp>
      <p:sp>
        <p:nvSpPr>
          <p:cNvPr id="3" name="Text 1"/>
          <p:cNvSpPr txBox="1"/>
          <p:nvPr/>
        </p:nvSpPr>
        <p:spPr>
          <a:xfrm>
            <a:off x="640080" y="2331720"/>
            <a:ext cx="4206240" cy="914400"/>
          </a:xfrm>
          <a:prstGeom prst="rect">
            <a:avLst/>
          </a:prstGeom>
          <a:noFill/>
          <a:ln/>
        </p:spPr>
        <p:txBody>
          <a:bodyPr wrap="square" lIns="0" tIns="0" rIns="0" bIns="0" rtlCol="0" anchor="t"/>
          <a:lstStyle/>
          <a:p>
            <a:pPr indent="0" marL="0">
              <a:buNone/>
            </a:pPr>
            <a:r>
              <a:rPr lang="en-US" sz="4400" b="1" dirty="0">
                <a:solidFill>
                  <a:srgbClr val="EEF1F8"/>
                </a:solidFill>
                <a:latin typeface="Georgia" pitchFamily="34" charset="0"/>
                <a:ea typeface="Georgia" pitchFamily="34" charset="-122"/>
                <a:cs typeface="Georgia" pitchFamily="34" charset="-120"/>
              </a:rPr>
              <a:t>One byte.</a:t>
            </a:r>
            <a:endParaRPr lang="en-US" sz="4400" dirty="0"/>
          </a:p>
        </p:txBody>
      </p:sp>
      <p:sp>
        <p:nvSpPr>
          <p:cNvPr id="4" name="Text 2"/>
          <p:cNvSpPr txBox="1"/>
          <p:nvPr/>
        </p:nvSpPr>
        <p:spPr>
          <a:xfrm>
            <a:off x="640080" y="3429000"/>
            <a:ext cx="4206240" cy="1463040"/>
          </a:xfrm>
          <a:prstGeom prst="rect">
            <a:avLst/>
          </a:prstGeom>
          <a:noFill/>
          <a:ln/>
        </p:spPr>
        <p:txBody>
          <a:bodyPr wrap="square" lIns="0" tIns="0" rIns="0" bIns="0" rtlCol="0" anchor="t"/>
          <a:lstStyle/>
          <a:p>
            <a:pPr indent="0" marL="0">
              <a:buNone/>
            </a:pPr>
            <a:r>
              <a:rPr lang="en-US" sz="1800" dirty="0">
                <a:solidFill>
                  <a:srgbClr val="A7AFCC"/>
                </a:solidFill>
                <a:latin typeface="Calibri" pitchFamily="34" charset="0"/>
                <a:ea typeface="Calibri" pitchFamily="34" charset="-122"/>
                <a:cs typeface="Calibri" pitchFamily="34" charset="-120"/>
              </a:rPr>
              <a:t>This is the certificate's raw bytes and the six checks behind it. All pass. I'm going to change a single byte.</a:t>
            </a:r>
            <a:endParaRPr lang="en-US" sz="1800" dirty="0"/>
          </a:p>
        </p:txBody>
      </p:sp>
      <p:sp>
        <p:nvSpPr>
          <p:cNvPr id="5" name="Text 3"/>
          <p:cNvSpPr txBox="1"/>
          <p:nvPr/>
        </p:nvSpPr>
        <p:spPr>
          <a:xfrm>
            <a:off x="640080" y="5989320"/>
            <a:ext cx="4206240" cy="457200"/>
          </a:xfrm>
          <a:prstGeom prst="rect">
            <a:avLst/>
          </a:prstGeom>
          <a:noFill/>
          <a:ln/>
        </p:spPr>
        <p:txBody>
          <a:bodyPr wrap="square" lIns="0" tIns="0" rIns="0" bIns="0" rtlCol="0" anchor="t"/>
          <a:lstStyle/>
          <a:p>
            <a:pPr indent="0" marL="0">
              <a:buNone/>
            </a:pPr>
            <a:r>
              <a:rPr lang="en-US" sz="1200" i="1" dirty="0">
                <a:solidFill>
                  <a:srgbClr val="8C95B9"/>
                </a:solidFill>
                <a:latin typeface="Calibri" pitchFamily="34" charset="0"/>
                <a:ea typeface="Calibri" pitchFamily="34" charset="-122"/>
                <a:cs typeface="Calibri" pitchFamily="34" charset="-120"/>
              </a:rPr>
              <a:t>Synthetic test data: public test keys and invented stake.</a:t>
            </a:r>
            <a:endParaRPr lang="en-US" sz="1200" dirty="0"/>
          </a:p>
        </p:txBody>
      </p:sp>
      <p:sp>
        <p:nvSpPr>
          <p:cNvPr id="6" name="Shape 4"/>
          <p:cNvSpPr/>
          <p:nvPr/>
        </p:nvSpPr>
        <p:spPr>
          <a:xfrm>
            <a:off x="5212080" y="894252"/>
            <a:ext cx="6400800" cy="5069496"/>
          </a:xfrm>
          <a:prstGeom prst="roundRect">
            <a:avLst>
              <a:gd name="adj" fmla="val 1804"/>
            </a:avLst>
          </a:prstGeom>
          <a:solidFill>
            <a:srgbClr val="0C1022"/>
          </a:solidFill>
          <a:ln w="12700">
            <a:solidFill>
              <a:srgbClr val="3A4275"/>
            </a:solidFill>
            <a:prstDash val="solid"/>
          </a:ln>
          <a:effectLst>
            <a:outerShdw sx="100000" sy="100000" kx="0" ky="0" algn="bl" rotWithShape="0" blurRad="228600" dist="76200" dir="5400000">
              <a:srgbClr val="000000">
                <a:alpha val="45000"/>
              </a:srgbClr>
            </a:outerShdw>
          </a:effectLst>
        </p:spPr>
      </p:sp>
      <p:sp>
        <p:nvSpPr>
          <p:cNvPr id="7" name="Shape 5"/>
          <p:cNvSpPr/>
          <p:nvPr/>
        </p:nvSpPr>
        <p:spPr>
          <a:xfrm>
            <a:off x="5349240" y="985692"/>
            <a:ext cx="100584" cy="100584"/>
          </a:xfrm>
          <a:prstGeom prst="ellipse">
            <a:avLst/>
          </a:prstGeom>
          <a:solidFill>
            <a:srgbClr val="F29484"/>
          </a:solidFill>
          <a:ln w="12700">
            <a:solidFill>
              <a:srgbClr val="F29484"/>
            </a:solidFill>
            <a:prstDash val="solid"/>
          </a:ln>
        </p:spPr>
      </p:sp>
      <p:sp>
        <p:nvSpPr>
          <p:cNvPr id="8" name="Shape 6"/>
          <p:cNvSpPr/>
          <p:nvPr/>
        </p:nvSpPr>
        <p:spPr>
          <a:xfrm>
            <a:off x="5532120" y="985692"/>
            <a:ext cx="100584" cy="100584"/>
          </a:xfrm>
          <a:prstGeom prst="ellipse">
            <a:avLst/>
          </a:prstGeom>
          <a:solidFill>
            <a:srgbClr val="F6C177"/>
          </a:solidFill>
          <a:ln w="12700">
            <a:solidFill>
              <a:srgbClr val="F6C177"/>
            </a:solidFill>
            <a:prstDash val="solid"/>
          </a:ln>
        </p:spPr>
      </p:sp>
      <p:sp>
        <p:nvSpPr>
          <p:cNvPr id="9" name="Shape 7"/>
          <p:cNvSpPr/>
          <p:nvPr/>
        </p:nvSpPr>
        <p:spPr>
          <a:xfrm>
            <a:off x="5715000" y="985692"/>
            <a:ext cx="100584" cy="100584"/>
          </a:xfrm>
          <a:prstGeom prst="ellipse">
            <a:avLst/>
          </a:prstGeom>
          <a:solidFill>
            <a:srgbClr val="9ED6E0"/>
          </a:solidFill>
          <a:ln w="12700">
            <a:solidFill>
              <a:srgbClr val="9ED6E0"/>
            </a:solidFill>
            <a:prstDash val="solid"/>
          </a:ln>
        </p:spPr>
      </p:sp>
      <p:pic>
        <p:nvPicPr>
          <p:cNvPr id="10" name="Image 0" descr="Certificate bytes and six passing checks">    </p:cNvPr>
          <p:cNvPicPr>
            <a:picLocks noChangeAspect="1"/>
          </p:cNvPicPr>
          <p:nvPr/>
        </p:nvPicPr>
        <p:blipFill>
          <a:blip r:embed="rId1"/>
          <a:stretch>
            <a:fillRect/>
          </a:stretch>
        </p:blipFill>
        <p:spPr>
          <a:xfrm>
            <a:off x="5248656" y="1168572"/>
            <a:ext cx="6327648" cy="475860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5B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1691640"/>
            <a:ext cx="8229600" cy="274320"/>
          </a:xfrm>
          <a:prstGeom prst="rect">
            <a:avLst/>
          </a:prstGeom>
          <a:noFill/>
          <a:ln/>
        </p:spPr>
        <p:txBody>
          <a:bodyPr wrap="square" lIns="0" tIns="0" rIns="0" bIns="0" rtlCol="0" anchor="ctr"/>
          <a:lstStyle/>
          <a:p>
            <a:pPr indent="0" marL="0">
              <a:buNone/>
            </a:pPr>
            <a:r>
              <a:rPr lang="en-US" sz="1200" b="1" spc="400" kern="0" dirty="0">
                <a:solidFill>
                  <a:srgbClr val="F6C177"/>
                </a:solidFill>
                <a:latin typeface="Calibri" pitchFamily="34" charset="0"/>
                <a:ea typeface="Calibri" pitchFamily="34" charset="-122"/>
                <a:cs typeface="Calibri" pitchFamily="34" charset="-120"/>
              </a:rPr>
              <a:t>THE RESULT</a:t>
            </a:r>
            <a:endParaRPr lang="en-US" sz="1200" dirty="0"/>
          </a:p>
        </p:txBody>
      </p:sp>
      <p:sp>
        <p:nvSpPr>
          <p:cNvPr id="3" name="Text 1"/>
          <p:cNvSpPr txBox="1"/>
          <p:nvPr/>
        </p:nvSpPr>
        <p:spPr>
          <a:xfrm>
            <a:off x="640080" y="2011680"/>
            <a:ext cx="4206240" cy="1554480"/>
          </a:xfrm>
          <a:prstGeom prst="rect">
            <a:avLst/>
          </a:prstGeom>
          <a:noFill/>
          <a:ln/>
        </p:spPr>
        <p:txBody>
          <a:bodyPr wrap="square" lIns="0" tIns="0" rIns="0" bIns="0" rtlCol="0" anchor="t"/>
          <a:lstStyle/>
          <a:p>
            <a:pPr indent="0" marL="0">
              <a:buNone/>
            </a:pPr>
            <a:r>
              <a:rPr lang="en-US" sz="3800" b="1" dirty="0">
                <a:solidFill>
                  <a:srgbClr val="EEF1F8"/>
                </a:solidFill>
                <a:latin typeface="Georgia" pitchFamily="34" charset="0"/>
                <a:ea typeface="Georgia" pitchFamily="34" charset="-122"/>
                <a:cs typeface="Georgia" pitchFamily="34" charset="-120"/>
              </a:rPr>
              <a:t>Not a red X.</a:t>
            </a:r>
            <a:endParaRPr lang="en-US" sz="3800" dirty="0"/>
          </a:p>
          <a:p>
            <a:pPr indent="0" marL="0">
              <a:buNone/>
            </a:pPr>
            <a:r>
              <a:rPr lang="en-US" sz="3800" b="1" dirty="0">
                <a:solidFill>
                  <a:srgbClr val="EEF1F8"/>
                </a:solidFill>
                <a:latin typeface="Georgia" pitchFamily="34" charset="0"/>
                <a:ea typeface="Georgia" pitchFamily="34" charset="-122"/>
                <a:cs typeface="Georgia" pitchFamily="34" charset="-120"/>
              </a:rPr>
              <a:t>A diagnosis.</a:t>
            </a:r>
            <a:endParaRPr lang="en-US" sz="3800" dirty="0"/>
          </a:p>
        </p:txBody>
      </p:sp>
      <p:sp>
        <p:nvSpPr>
          <p:cNvPr id="4" name="Text 2"/>
          <p:cNvSpPr txBox="1"/>
          <p:nvPr/>
        </p:nvSpPr>
        <p:spPr>
          <a:xfrm>
            <a:off x="640080" y="3840480"/>
            <a:ext cx="2377440" cy="310896"/>
          </a:xfrm>
          <a:prstGeom prst="roundRect">
            <a:avLst>
              <a:gd name="adj" fmla="val 50000"/>
            </a:avLst>
          </a:prstGeom>
          <a:noFill/>
          <a:ln w="12700">
            <a:solidFill>
              <a:srgbClr val="F29484"/>
            </a:solidFill>
          </a:ln>
        </p:spPr>
        <p:txBody>
          <a:bodyPr wrap="square" lIns="0" tIns="0" rIns="0" bIns="0" rtlCol="0" anchor="ctr"/>
          <a:lstStyle/>
          <a:p>
            <a:pPr algn="ctr" indent="0" marL="0">
              <a:buNone/>
            </a:pPr>
            <a:r>
              <a:rPr lang="en-US" sz="1100" b="1" dirty="0">
                <a:solidFill>
                  <a:srgbClr val="F29484"/>
                </a:solidFill>
                <a:latin typeface="Courier New" pitchFamily="34" charset="0"/>
                <a:ea typeface="Courier New" pitchFamily="34" charset="-122"/>
                <a:cs typeface="Courier New" pitchFamily="34" charset="-120"/>
              </a:rPr>
              <a:t>SIGNATURE · FAIL</a:t>
            </a:r>
            <a:endParaRPr lang="en-US" sz="1100" dirty="0"/>
          </a:p>
        </p:txBody>
      </p:sp>
      <p:sp>
        <p:nvSpPr>
          <p:cNvPr id="5" name="Text 3"/>
          <p:cNvSpPr txBox="1"/>
          <p:nvPr/>
        </p:nvSpPr>
        <p:spPr>
          <a:xfrm>
            <a:off x="640080" y="4297680"/>
            <a:ext cx="2377440" cy="310896"/>
          </a:xfrm>
          <a:prstGeom prst="roundRect">
            <a:avLst>
              <a:gd name="adj" fmla="val 50000"/>
            </a:avLst>
          </a:prstGeom>
          <a:noFill/>
          <a:ln w="12700">
            <a:solidFill>
              <a:srgbClr val="A7AFCC"/>
            </a:solidFill>
          </a:ln>
        </p:spPr>
        <p:txBody>
          <a:bodyPr wrap="square" lIns="0" tIns="0" rIns="0" bIns="0" rtlCol="0" anchor="ctr"/>
          <a:lstStyle/>
          <a:p>
            <a:pPr algn="ctr" indent="0" marL="0">
              <a:buNone/>
            </a:pPr>
            <a:r>
              <a:rPr lang="en-US" sz="1100" b="1" dirty="0">
                <a:solidFill>
                  <a:srgbClr val="A7AFCC"/>
                </a:solidFill>
                <a:latin typeface="Courier New" pitchFamily="34" charset="0"/>
                <a:ea typeface="Courier New" pitchFamily="34" charset="-122"/>
                <a:cs typeface="Courier New" pitchFamily="34" charset="-120"/>
              </a:rPr>
              <a:t>QUORUM · NOT RUN</a:t>
            </a:r>
            <a:endParaRPr lang="en-US" sz="1100" dirty="0"/>
          </a:p>
        </p:txBody>
      </p:sp>
      <p:sp>
        <p:nvSpPr>
          <p:cNvPr id="6" name="Text 4"/>
          <p:cNvSpPr txBox="1"/>
          <p:nvPr/>
        </p:nvSpPr>
        <p:spPr>
          <a:xfrm>
            <a:off x="640080" y="4754880"/>
            <a:ext cx="2377440" cy="310896"/>
          </a:xfrm>
          <a:prstGeom prst="roundRect">
            <a:avLst>
              <a:gd name="adj" fmla="val 50000"/>
            </a:avLst>
          </a:prstGeom>
          <a:noFill/>
          <a:ln w="12700">
            <a:solidFill>
              <a:srgbClr val="A7AFCC"/>
            </a:solidFill>
          </a:ln>
        </p:spPr>
        <p:txBody>
          <a:bodyPr wrap="square" lIns="0" tIns="0" rIns="0" bIns="0" rtlCol="0" anchor="ctr"/>
          <a:lstStyle/>
          <a:p>
            <a:pPr algn="ctr" indent="0" marL="0">
              <a:buNone/>
            </a:pPr>
            <a:r>
              <a:rPr lang="en-US" sz="1100" b="1" dirty="0">
                <a:solidFill>
                  <a:srgbClr val="A7AFCC"/>
                </a:solidFill>
                <a:latin typeface="Courier New" pitchFamily="34" charset="0"/>
                <a:ea typeface="Courier New" pitchFamily="34" charset="-122"/>
                <a:cs typeface="Courier New" pitchFamily="34" charset="-120"/>
              </a:rPr>
              <a:t>FINALITY · NOT RUN</a:t>
            </a:r>
            <a:endParaRPr lang="en-US" sz="1100" dirty="0"/>
          </a:p>
        </p:txBody>
      </p:sp>
      <p:sp>
        <p:nvSpPr>
          <p:cNvPr id="7" name="Text 5"/>
          <p:cNvSpPr txBox="1"/>
          <p:nvPr/>
        </p:nvSpPr>
        <p:spPr>
          <a:xfrm>
            <a:off x="640080" y="5989320"/>
            <a:ext cx="4206240" cy="457200"/>
          </a:xfrm>
          <a:prstGeom prst="rect">
            <a:avLst/>
          </a:prstGeom>
          <a:noFill/>
          <a:ln/>
        </p:spPr>
        <p:txBody>
          <a:bodyPr wrap="square" lIns="0" tIns="0" rIns="0" bIns="0" rtlCol="0" anchor="t"/>
          <a:lstStyle/>
          <a:p>
            <a:pPr indent="0" marL="0">
              <a:buNone/>
            </a:pPr>
            <a:r>
              <a:rPr lang="en-US" sz="1200" i="1" dirty="0">
                <a:solidFill>
                  <a:srgbClr val="8C95B9"/>
                </a:solidFill>
                <a:latin typeface="Calibri" pitchFamily="34" charset="0"/>
                <a:ea typeface="Calibri" pitchFamily="34" charset="-122"/>
                <a:cs typeface="Calibri" pitchFamily="34" charset="-120"/>
              </a:rPr>
              <a:t>Synthetic test data: public test keys and invented stake.</a:t>
            </a:r>
            <a:endParaRPr lang="en-US" sz="1200" dirty="0"/>
          </a:p>
        </p:txBody>
      </p:sp>
      <p:sp>
        <p:nvSpPr>
          <p:cNvPr id="8" name="Shape 6"/>
          <p:cNvSpPr/>
          <p:nvPr/>
        </p:nvSpPr>
        <p:spPr>
          <a:xfrm>
            <a:off x="5212080" y="894252"/>
            <a:ext cx="6400800" cy="5069496"/>
          </a:xfrm>
          <a:prstGeom prst="roundRect">
            <a:avLst>
              <a:gd name="adj" fmla="val 1804"/>
            </a:avLst>
          </a:prstGeom>
          <a:solidFill>
            <a:srgbClr val="0C1022"/>
          </a:solidFill>
          <a:ln w="12700">
            <a:solidFill>
              <a:srgbClr val="3A4275"/>
            </a:solidFill>
            <a:prstDash val="solid"/>
          </a:ln>
          <a:effectLst>
            <a:outerShdw sx="100000" sy="100000" kx="0" ky="0" algn="bl" rotWithShape="0" blurRad="228600" dist="76200" dir="5400000">
              <a:srgbClr val="000000">
                <a:alpha val="45000"/>
              </a:srgbClr>
            </a:outerShdw>
          </a:effectLst>
        </p:spPr>
      </p:sp>
      <p:sp>
        <p:nvSpPr>
          <p:cNvPr id="9" name="Shape 7"/>
          <p:cNvSpPr/>
          <p:nvPr/>
        </p:nvSpPr>
        <p:spPr>
          <a:xfrm>
            <a:off x="5349240" y="985692"/>
            <a:ext cx="100584" cy="100584"/>
          </a:xfrm>
          <a:prstGeom prst="ellipse">
            <a:avLst/>
          </a:prstGeom>
          <a:solidFill>
            <a:srgbClr val="F29484"/>
          </a:solidFill>
          <a:ln w="12700">
            <a:solidFill>
              <a:srgbClr val="F29484"/>
            </a:solidFill>
            <a:prstDash val="solid"/>
          </a:ln>
        </p:spPr>
      </p:sp>
      <p:sp>
        <p:nvSpPr>
          <p:cNvPr id="10" name="Shape 8"/>
          <p:cNvSpPr/>
          <p:nvPr/>
        </p:nvSpPr>
        <p:spPr>
          <a:xfrm>
            <a:off x="5532120" y="985692"/>
            <a:ext cx="100584" cy="100584"/>
          </a:xfrm>
          <a:prstGeom prst="ellipse">
            <a:avLst/>
          </a:prstGeom>
          <a:solidFill>
            <a:srgbClr val="F6C177"/>
          </a:solidFill>
          <a:ln w="12700">
            <a:solidFill>
              <a:srgbClr val="F6C177"/>
            </a:solidFill>
            <a:prstDash val="solid"/>
          </a:ln>
        </p:spPr>
      </p:sp>
      <p:sp>
        <p:nvSpPr>
          <p:cNvPr id="11" name="Shape 9"/>
          <p:cNvSpPr/>
          <p:nvPr/>
        </p:nvSpPr>
        <p:spPr>
          <a:xfrm>
            <a:off x="5715000" y="985692"/>
            <a:ext cx="100584" cy="100584"/>
          </a:xfrm>
          <a:prstGeom prst="ellipse">
            <a:avLst/>
          </a:prstGeom>
          <a:solidFill>
            <a:srgbClr val="9ED6E0"/>
          </a:solidFill>
          <a:ln w="12700">
            <a:solidFill>
              <a:srgbClr val="9ED6E0"/>
            </a:solidFill>
            <a:prstDash val="solid"/>
          </a:ln>
        </p:spPr>
      </p:sp>
      <p:pic>
        <p:nvPicPr>
          <p:cNvPr id="12" name="Image 0" descr="After flipping one byte: signature fails, quorum and finality do not run, verdict rejected">    </p:cNvPr>
          <p:cNvPicPr>
            <a:picLocks noChangeAspect="1"/>
          </p:cNvPicPr>
          <p:nvPr/>
        </p:nvPicPr>
        <p:blipFill>
          <a:blip r:embed="rId1"/>
          <a:stretch>
            <a:fillRect/>
          </a:stretch>
        </p:blipFill>
        <p:spPr>
          <a:xfrm>
            <a:off x="5248656" y="1168572"/>
            <a:ext cx="6327648" cy="475860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5B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11480"/>
            <a:ext cx="8229600" cy="274320"/>
          </a:xfrm>
          <a:prstGeom prst="rect">
            <a:avLst/>
          </a:prstGeom>
          <a:noFill/>
          <a:ln/>
        </p:spPr>
        <p:txBody>
          <a:bodyPr wrap="square" lIns="0" tIns="0" rIns="0" bIns="0" rtlCol="0" anchor="ctr"/>
          <a:lstStyle/>
          <a:p>
            <a:pPr indent="0" marL="0">
              <a:buNone/>
            </a:pPr>
            <a:r>
              <a:rPr lang="en-US" sz="1200" b="1" spc="400" kern="0" dirty="0">
                <a:solidFill>
                  <a:srgbClr val="F6C177"/>
                </a:solidFill>
                <a:latin typeface="Calibri" pitchFamily="34" charset="0"/>
                <a:ea typeface="Calibri" pitchFamily="34" charset="-122"/>
                <a:cs typeface="Calibri" pitchFamily="34" charset="-120"/>
              </a:rPr>
              <a:t>STRAIGHT TALK</a:t>
            </a:r>
            <a:endParaRPr lang="en-US" sz="1200" dirty="0"/>
          </a:p>
        </p:txBody>
      </p:sp>
      <p:sp>
        <p:nvSpPr>
          <p:cNvPr id="3" name="Text 1"/>
          <p:cNvSpPr txBox="1"/>
          <p:nvPr/>
        </p:nvSpPr>
        <p:spPr>
          <a:xfrm>
            <a:off x="640080" y="731520"/>
            <a:ext cx="10972800" cy="868680"/>
          </a:xfrm>
          <a:prstGeom prst="rect">
            <a:avLst/>
          </a:prstGeom>
          <a:noFill/>
          <a:ln/>
        </p:spPr>
        <p:txBody>
          <a:bodyPr wrap="square" lIns="0" tIns="0" rIns="0" bIns="0" rtlCol="0" anchor="t"/>
          <a:lstStyle/>
          <a:p>
            <a:pPr indent="0" marL="0">
              <a:buNone/>
            </a:pPr>
            <a:r>
              <a:rPr lang="en-US" sz="3600" b="1" dirty="0">
                <a:solidFill>
                  <a:srgbClr val="EEF1F8"/>
                </a:solidFill>
                <a:latin typeface="Georgia" pitchFamily="34" charset="0"/>
                <a:ea typeface="Georgia" pitchFamily="34" charset="-122"/>
                <a:cs typeface="Georgia" pitchFamily="34" charset="-120"/>
              </a:rPr>
              <a:t>A debugger, not a light client</a:t>
            </a:r>
            <a:endParaRPr lang="en-US" sz="3600" dirty="0"/>
          </a:p>
        </p:txBody>
      </p:sp>
      <p:sp>
        <p:nvSpPr>
          <p:cNvPr id="4" name="Shape 2"/>
          <p:cNvSpPr/>
          <p:nvPr/>
        </p:nvSpPr>
        <p:spPr>
          <a:xfrm>
            <a:off x="640080" y="1828800"/>
            <a:ext cx="5303520" cy="3931920"/>
          </a:xfrm>
          <a:prstGeom prst="roundRect">
            <a:avLst>
              <a:gd name="adj" fmla="val 2791"/>
            </a:avLst>
          </a:prstGeom>
          <a:solidFill>
            <a:srgbClr val="1D2546"/>
          </a:solidFill>
          <a:ln w="12700">
            <a:solidFill>
              <a:srgbClr val="1D2546"/>
            </a:solidFill>
            <a:prstDash val="solid"/>
          </a:ln>
        </p:spPr>
      </p:sp>
      <p:sp>
        <p:nvSpPr>
          <p:cNvPr id="5" name="Shape 3"/>
          <p:cNvSpPr/>
          <p:nvPr/>
        </p:nvSpPr>
        <p:spPr>
          <a:xfrm>
            <a:off x="6217920" y="1828800"/>
            <a:ext cx="5303520" cy="3931920"/>
          </a:xfrm>
          <a:prstGeom prst="roundRect">
            <a:avLst>
              <a:gd name="adj" fmla="val 2791"/>
            </a:avLst>
          </a:prstGeom>
          <a:solidFill>
            <a:srgbClr val="1D2546"/>
          </a:solidFill>
          <a:ln w="12700">
            <a:solidFill>
              <a:srgbClr val="1D2546"/>
            </a:solidFill>
            <a:prstDash val="solid"/>
          </a:ln>
        </p:spPr>
      </p:sp>
      <p:sp>
        <p:nvSpPr>
          <p:cNvPr id="6" name="Text 4"/>
          <p:cNvSpPr txBox="1"/>
          <p:nvPr/>
        </p:nvSpPr>
        <p:spPr>
          <a:xfrm>
            <a:off x="960120" y="2057400"/>
            <a:ext cx="4572000" cy="457200"/>
          </a:xfrm>
          <a:prstGeom prst="rect">
            <a:avLst/>
          </a:prstGeom>
          <a:noFill/>
          <a:ln/>
        </p:spPr>
        <p:txBody>
          <a:bodyPr wrap="square" lIns="0" tIns="0" rIns="0" bIns="0" rtlCol="0" anchor="ctr"/>
          <a:lstStyle/>
          <a:p>
            <a:pPr indent="0" marL="0">
              <a:buNone/>
            </a:pPr>
            <a:r>
              <a:rPr lang="en-US" sz="2600" b="1" dirty="0">
                <a:solidFill>
                  <a:srgbClr val="9ED6E0"/>
                </a:solidFill>
                <a:latin typeface="Georgia" pitchFamily="34" charset="0"/>
                <a:ea typeface="Georgia" pitchFamily="34" charset="-122"/>
                <a:cs typeface="Georgia" pitchFamily="34" charset="-120"/>
              </a:rPr>
              <a:t>It does</a:t>
            </a:r>
            <a:endParaRPr lang="en-US" sz="2600" dirty="0"/>
          </a:p>
        </p:txBody>
      </p:sp>
      <p:sp>
        <p:nvSpPr>
          <p:cNvPr id="7" name="Text 5"/>
          <p:cNvSpPr txBox="1"/>
          <p:nvPr/>
        </p:nvSpPr>
        <p:spPr>
          <a:xfrm>
            <a:off x="960120" y="2697480"/>
            <a:ext cx="4663440" cy="29260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EEF1F8"/>
                </a:solidFill>
                <a:latin typeface="Calibri" pitchFamily="34" charset="0"/>
                <a:ea typeface="Calibri" pitchFamily="34" charset="-122"/>
                <a:cs typeface="Calibri" pitchFamily="34" charset="-120"/>
              </a:rPr>
              <a:t>Explain every check and its trust basis</a:t>
            </a:r>
            <a:endParaRPr lang="en-US" sz="1800" dirty="0"/>
          </a:p>
          <a:p>
            <a:pPr marL="342900" indent="-342900">
              <a:spcAft>
                <a:spcPts val="1000"/>
              </a:spcAft>
              <a:buSzPct val="100000"/>
              <a:buChar char="•"/>
            </a:pPr>
            <a:r>
              <a:rPr lang="en-US" sz="1800" dirty="0">
                <a:solidFill>
                  <a:srgbClr val="EEF1F8"/>
                </a:solidFill>
                <a:latin typeface="Calibri" pitchFamily="34" charset="0"/>
                <a:ea typeface="Calibri" pitchFamily="34" charset="-122"/>
                <a:cs typeface="Calibri" pitchFamily="34" charset="-120"/>
              </a:rPr>
              <a:t>Keep a missing check different from a failed one</a:t>
            </a:r>
            <a:endParaRPr lang="en-US" sz="1800" dirty="0"/>
          </a:p>
          <a:p>
            <a:pPr marL="342900" indent="-342900">
              <a:spcAft>
                <a:spcPts val="1000"/>
              </a:spcAft>
              <a:buSzPct val="100000"/>
              <a:buChar char="•"/>
            </a:pPr>
            <a:r>
              <a:rPr lang="en-US" sz="1800" dirty="0">
                <a:solidFill>
                  <a:srgbClr val="EEF1F8"/>
                </a:solidFill>
                <a:latin typeface="Calibri" pitchFamily="34" charset="0"/>
                <a:ea typeface="Calibri" pitchFamily="34" charset="-122"/>
                <a:cs typeface="Calibri" pitchFamily="34" charset="-120"/>
              </a:rPr>
              <a:t>Let you flip a byte and compare, then replay offline</a:t>
            </a:r>
            <a:endParaRPr lang="en-US" sz="1800" dirty="0"/>
          </a:p>
        </p:txBody>
      </p:sp>
      <p:sp>
        <p:nvSpPr>
          <p:cNvPr id="8" name="Text 6"/>
          <p:cNvSpPr txBox="1"/>
          <p:nvPr/>
        </p:nvSpPr>
        <p:spPr>
          <a:xfrm>
            <a:off x="6537960" y="2057400"/>
            <a:ext cx="4572000" cy="457200"/>
          </a:xfrm>
          <a:prstGeom prst="rect">
            <a:avLst/>
          </a:prstGeom>
          <a:noFill/>
          <a:ln/>
        </p:spPr>
        <p:txBody>
          <a:bodyPr wrap="square" lIns="0" tIns="0" rIns="0" bIns="0" rtlCol="0" anchor="ctr"/>
          <a:lstStyle/>
          <a:p>
            <a:pPr indent="0" marL="0">
              <a:buNone/>
            </a:pPr>
            <a:r>
              <a:rPr lang="en-US" sz="2600" b="1" dirty="0">
                <a:solidFill>
                  <a:srgbClr val="F29484"/>
                </a:solidFill>
                <a:latin typeface="Georgia" pitchFamily="34" charset="0"/>
                <a:ea typeface="Georgia" pitchFamily="34" charset="-122"/>
                <a:cs typeface="Georgia" pitchFamily="34" charset="-120"/>
              </a:rPr>
              <a:t>It doesn't</a:t>
            </a:r>
            <a:endParaRPr lang="en-US" sz="2600" dirty="0"/>
          </a:p>
        </p:txBody>
      </p:sp>
      <p:sp>
        <p:nvSpPr>
          <p:cNvPr id="9" name="Text 7"/>
          <p:cNvSpPr txBox="1"/>
          <p:nvPr/>
        </p:nvSpPr>
        <p:spPr>
          <a:xfrm>
            <a:off x="6537960" y="2697480"/>
            <a:ext cx="4663440" cy="29260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EEF1F8"/>
                </a:solidFill>
                <a:latin typeface="Calibri" pitchFamily="34" charset="0"/>
                <a:ea typeface="Calibri" pitchFamily="34" charset="-122"/>
                <a:cs typeface="Calibri" pitchFamily="34" charset="-120"/>
              </a:rPr>
              <a:t>Authenticate validator sets across epochs</a:t>
            </a:r>
            <a:endParaRPr lang="en-US" sz="1800" dirty="0"/>
          </a:p>
          <a:p>
            <a:pPr marL="342900" indent="-342900">
              <a:spcAft>
                <a:spcPts val="1000"/>
              </a:spcAft>
              <a:buSzPct val="100000"/>
              <a:buChar char="•"/>
            </a:pPr>
            <a:r>
              <a:rPr lang="en-US" sz="1800" dirty="0">
                <a:solidFill>
                  <a:srgbClr val="EEF1F8"/>
                </a:solidFill>
                <a:latin typeface="Calibri" pitchFamily="34" charset="0"/>
                <a:ea typeface="Calibri" pitchFamily="34" charset="-122"/>
                <a:cs typeface="Calibri" pitchFamily="34" charset="-120"/>
              </a:rPr>
              <a:t>Claim real-network verification. Not yet established</a:t>
            </a:r>
            <a:endParaRPr lang="en-US" sz="1800" dirty="0"/>
          </a:p>
          <a:p>
            <a:pPr marL="342900" indent="-342900">
              <a:spcAft>
                <a:spcPts val="1000"/>
              </a:spcAft>
              <a:buSzPct val="100000"/>
              <a:buChar char="•"/>
            </a:pPr>
            <a:r>
              <a:rPr lang="en-US" sz="1800" dirty="0">
                <a:solidFill>
                  <a:srgbClr val="EEF1F8"/>
                </a:solidFill>
                <a:latin typeface="Calibri" pitchFamily="34" charset="0"/>
                <a:ea typeface="Calibri" pitchFamily="34" charset="-122"/>
                <a:cs typeface="Calibri" pitchFamily="34" charset="-120"/>
              </a:rPr>
              <a:t>Invent context: a recorded testnet response stays inconclusive</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5B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315200" y="2286000"/>
            <a:ext cx="6400800" cy="6400800"/>
          </a:xfrm>
          <a:prstGeom prst="ellipse">
            <a:avLst/>
          </a:prstGeom>
          <a:solidFill>
            <a:srgbClr val="F29484">
              <a:alpha val="9000"/>
            </a:srgbClr>
          </a:solidFill>
          <a:ln w="12700">
            <a:solidFill>
              <a:srgbClr val="F29484">
                <a:alpha val="0"/>
              </a:srgbClr>
            </a:solidFill>
            <a:prstDash val="solid"/>
          </a:ln>
        </p:spPr>
      </p:sp>
      <p:pic>
        <p:nvPicPr>
          <p:cNvPr id="3" name="Image 0" descr="Monocle mark">    </p:cNvPr>
          <p:cNvPicPr>
            <a:picLocks noChangeAspect="1"/>
          </p:cNvPicPr>
          <p:nvPr/>
        </p:nvPicPr>
        <p:blipFill>
          <a:blip r:embed="rId1"/>
          <a:stretch>
            <a:fillRect/>
          </a:stretch>
        </p:blipFill>
        <p:spPr>
          <a:xfrm>
            <a:off x="731520" y="640080"/>
            <a:ext cx="640080" cy="640080"/>
          </a:xfrm>
          <a:prstGeom prst="rect">
            <a:avLst/>
          </a:prstGeom>
        </p:spPr>
      </p:pic>
      <p:sp>
        <p:nvSpPr>
          <p:cNvPr id="4" name="Text 1"/>
          <p:cNvSpPr txBox="1"/>
          <p:nvPr/>
        </p:nvSpPr>
        <p:spPr>
          <a:xfrm>
            <a:off x="731520" y="1554480"/>
            <a:ext cx="5669280" cy="1737360"/>
          </a:xfrm>
          <a:prstGeom prst="rect">
            <a:avLst/>
          </a:prstGeom>
          <a:noFill/>
          <a:ln/>
        </p:spPr>
        <p:txBody>
          <a:bodyPr wrap="square" lIns="0" tIns="0" rIns="0" bIns="0" rtlCol="0" anchor="t"/>
          <a:lstStyle/>
          <a:p>
            <a:pPr indent="0" marL="0">
              <a:buNone/>
            </a:pPr>
            <a:r>
              <a:rPr lang="en-US" sz="4200" b="1" dirty="0">
                <a:solidFill>
                  <a:srgbClr val="EEF1F8"/>
                </a:solidFill>
                <a:latin typeface="Georgia" pitchFamily="34" charset="0"/>
                <a:ea typeface="Georgia" pitchFamily="34" charset="-122"/>
                <a:cs typeface="Georgia" pitchFamily="34" charset="-120"/>
              </a:rPr>
              <a:t>Try it live.</a:t>
            </a:r>
            <a:endParaRPr lang="en-US" sz="4200" dirty="0"/>
          </a:p>
          <a:p>
            <a:pPr indent="0" marL="0">
              <a:buNone/>
            </a:pPr>
            <a:r>
              <a:rPr lang="en-US" sz="4200" b="1" dirty="0">
                <a:solidFill>
                  <a:srgbClr val="EEF1F8"/>
                </a:solidFill>
                <a:latin typeface="Georgia" pitchFamily="34" charset="0"/>
                <a:ea typeface="Georgia" pitchFamily="34" charset="-122"/>
                <a:cs typeface="Georgia" pitchFamily="34" charset="-120"/>
              </a:rPr>
              <a:t>No install needed.</a:t>
            </a:r>
            <a:endParaRPr lang="en-US" sz="4200" dirty="0"/>
          </a:p>
        </p:txBody>
      </p:sp>
      <p:sp>
        <p:nvSpPr>
          <p:cNvPr id="5" name="Text 2"/>
          <p:cNvSpPr txBox="1"/>
          <p:nvPr/>
        </p:nvSpPr>
        <p:spPr>
          <a:xfrm>
            <a:off x="731520" y="3383280"/>
            <a:ext cx="5669280" cy="731520"/>
          </a:xfrm>
          <a:prstGeom prst="rect">
            <a:avLst/>
          </a:prstGeom>
          <a:noFill/>
          <a:ln/>
        </p:spPr>
        <p:txBody>
          <a:bodyPr wrap="square" lIns="0" tIns="0" rIns="0" bIns="0" rtlCol="0" anchor="t"/>
          <a:lstStyle/>
          <a:p>
            <a:pPr indent="0" marL="0">
              <a:buNone/>
            </a:pPr>
            <a:r>
              <a:rPr lang="en-US" sz="1800" dirty="0">
                <a:solidFill>
                  <a:srgbClr val="A7AFCC"/>
                </a:solidFill>
                <a:latin typeface="Calibri" pitchFamily="34" charset="0"/>
                <a:ea typeface="Calibri" pitchFamily="34" charset="-122"/>
                <a:cs typeface="Calibri" pitchFamily="34" charset="-120"/>
              </a:rPr>
              <a:t>Alpenglow is coming. Know why it holds, or why it breaks.</a:t>
            </a:r>
            <a:endParaRPr lang="en-US" sz="1800" dirty="0"/>
          </a:p>
        </p:txBody>
      </p:sp>
      <p:sp>
        <p:nvSpPr>
          <p:cNvPr id="6" name="Shape 3"/>
          <p:cNvSpPr/>
          <p:nvPr/>
        </p:nvSpPr>
        <p:spPr>
          <a:xfrm>
            <a:off x="731520" y="4297680"/>
            <a:ext cx="5669280" cy="914400"/>
          </a:xfrm>
          <a:prstGeom prst="roundRect">
            <a:avLst>
              <a:gd name="adj" fmla="val 50000"/>
            </a:avLst>
          </a:prstGeom>
          <a:solidFill>
            <a:srgbClr val="232C52"/>
          </a:solidFill>
          <a:ln w="25400">
            <a:solidFill>
              <a:srgbClr val="F6C177"/>
            </a:solidFill>
            <a:prstDash val="solid"/>
          </a:ln>
        </p:spPr>
      </p:sp>
      <p:sp>
        <p:nvSpPr>
          <p:cNvPr id="7" name="Text 4">
            <a:hlinkClick r:id="rId2" tooltip="Open Monocle"/>
          </p:cNvPr>
          <p:cNvSpPr txBox="1"/>
          <p:nvPr/>
        </p:nvSpPr>
        <p:spPr>
          <a:xfrm>
            <a:off x="731520" y="4297680"/>
            <a:ext cx="5669280" cy="914400"/>
          </a:xfrm>
          <a:prstGeom prst="rect">
            <a:avLst/>
          </a:prstGeom>
          <a:noFill/>
          <a:ln/>
        </p:spPr>
        <p:txBody>
          <a:bodyPr wrap="square" lIns="0" tIns="0" rIns="0" bIns="0" rtlCol="0" anchor="ctr"/>
          <a:lstStyle/>
          <a:p>
            <a:pPr algn="ctr" indent="0" marL="0">
              <a:buNone/>
            </a:pPr>
            <a:r>
              <a:rPr lang="en-US" sz="2800" b="1" u="sng" dirty="0">
                <a:solidFill>
                  <a:srgbClr val="F6C177"/>
                </a:solidFill>
                <a:latin typeface="Georgia" pitchFamily="34" charset="0"/>
                <a:ea typeface="Georgia" pitchFamily="34" charset="-122"/>
                <a:cs typeface="Georgia" pitchFamily="34" charset="-120"/>
                <a:hlinkClick r:id="rId2" invalidUrl="" action="" tgtFrame="" tooltip="Open Monocle" history="1" highlightClick="0" endSnd="0">
                  <a:extLst>
                    <a:ext uri="{A12FA001-AC4F-418D-AE19-62706E023703}">
                      <ahyp:hlinkClr xmlns:ahyp="http://schemas.microsoft.com/office/drawing/2018/hyperlinkcolor" val="tx"/>
                    </a:ext>
                  </a:extLst>
                </a:hlinkClick>
              </a:rPr>
              <a:t>monocle-omega.vercel.app</a:t>
            </a:r>
            <a:endParaRPr lang="en-US" sz="2800" dirty="0"/>
          </a:p>
        </p:txBody>
      </p:sp>
      <p:sp>
        <p:nvSpPr>
          <p:cNvPr id="8" name="Text 5"/>
          <p:cNvSpPr txBox="1"/>
          <p:nvPr/>
        </p:nvSpPr>
        <p:spPr>
          <a:xfrm>
            <a:off x="731520" y="5669280"/>
            <a:ext cx="5669280" cy="320040"/>
          </a:xfrm>
          <a:prstGeom prst="rect">
            <a:avLst/>
          </a:prstGeom>
          <a:noFill/>
          <a:ln/>
        </p:spPr>
        <p:txBody>
          <a:bodyPr wrap="square" lIns="0" tIns="0" rIns="0" bIns="0" rtlCol="0" anchor="ctr"/>
          <a:lstStyle/>
          <a:p>
            <a:pPr indent="0" marL="0">
              <a:buNone/>
            </a:pPr>
            <a:r>
              <a:rPr lang="en-US" sz="1300" dirty="0">
                <a:solidFill>
                  <a:srgbClr val="A7AFCC"/>
                </a:solidFill>
                <a:latin typeface="Calibri" pitchFamily="34" charset="0"/>
                <a:ea typeface="Calibri" pitchFamily="34" charset="-122"/>
                <a:cs typeface="Calibri" pitchFamily="34" charset="-120"/>
              </a:rPr>
              <a:t>Open source on GitHub: </a:t>
            </a:r>
            <a:pPr indent="0" marL="0">
              <a:buNone/>
            </a:pPr>
            <a:r>
              <a:rPr lang="en-US" sz="1300" u="sng" dirty="0">
                <a:solidFill>
                  <a:srgbClr val="A7AFC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github.com/mansi0xc/monocle</a:t>
            </a:r>
            <a:endParaRPr lang="en-US" sz="1300" dirty="0"/>
          </a:p>
        </p:txBody>
      </p:sp>
      <p:sp>
        <p:nvSpPr>
          <p:cNvPr id="9" name="Shape 6"/>
          <p:cNvSpPr/>
          <p:nvPr/>
        </p:nvSpPr>
        <p:spPr>
          <a:xfrm>
            <a:off x="6858000" y="1609090"/>
            <a:ext cx="4846320" cy="3639820"/>
          </a:xfrm>
          <a:prstGeom prst="roundRect">
            <a:avLst>
              <a:gd name="adj" fmla="val 2512"/>
            </a:avLst>
          </a:prstGeom>
          <a:solidFill>
            <a:srgbClr val="0C1022"/>
          </a:solidFill>
          <a:ln w="12700">
            <a:solidFill>
              <a:srgbClr val="3A4275"/>
            </a:solidFill>
            <a:prstDash val="solid"/>
          </a:ln>
          <a:effectLst>
            <a:outerShdw sx="100000" sy="100000" kx="0" ky="0" algn="bl" rotWithShape="0" blurRad="228600" dist="76200" dir="5400000">
              <a:srgbClr val="000000">
                <a:alpha val="45000"/>
              </a:srgbClr>
            </a:outerShdw>
          </a:effectLst>
        </p:spPr>
      </p:sp>
      <p:sp>
        <p:nvSpPr>
          <p:cNvPr id="10" name="Shape 7"/>
          <p:cNvSpPr/>
          <p:nvPr/>
        </p:nvSpPr>
        <p:spPr>
          <a:xfrm>
            <a:off x="6995160" y="1700530"/>
            <a:ext cx="100584" cy="100584"/>
          </a:xfrm>
          <a:prstGeom prst="ellipse">
            <a:avLst/>
          </a:prstGeom>
          <a:solidFill>
            <a:srgbClr val="F29484"/>
          </a:solidFill>
          <a:ln w="12700">
            <a:solidFill>
              <a:srgbClr val="F29484"/>
            </a:solidFill>
            <a:prstDash val="solid"/>
          </a:ln>
        </p:spPr>
      </p:sp>
      <p:sp>
        <p:nvSpPr>
          <p:cNvPr id="11" name="Shape 8"/>
          <p:cNvSpPr/>
          <p:nvPr/>
        </p:nvSpPr>
        <p:spPr>
          <a:xfrm>
            <a:off x="7178040" y="1700530"/>
            <a:ext cx="100584" cy="100584"/>
          </a:xfrm>
          <a:prstGeom prst="ellipse">
            <a:avLst/>
          </a:prstGeom>
          <a:solidFill>
            <a:srgbClr val="F6C177"/>
          </a:solidFill>
          <a:ln w="12700">
            <a:solidFill>
              <a:srgbClr val="F6C177"/>
            </a:solidFill>
            <a:prstDash val="solid"/>
          </a:ln>
        </p:spPr>
      </p:sp>
      <p:sp>
        <p:nvSpPr>
          <p:cNvPr id="12" name="Shape 9"/>
          <p:cNvSpPr/>
          <p:nvPr/>
        </p:nvSpPr>
        <p:spPr>
          <a:xfrm>
            <a:off x="7360920" y="1700530"/>
            <a:ext cx="100584" cy="100584"/>
          </a:xfrm>
          <a:prstGeom prst="ellipse">
            <a:avLst/>
          </a:prstGeom>
          <a:solidFill>
            <a:srgbClr val="9ED6E0"/>
          </a:solidFill>
          <a:ln w="12700">
            <a:solidFill>
              <a:srgbClr val="9ED6E0"/>
            </a:solidFill>
            <a:prstDash val="solid"/>
          </a:ln>
        </p:spPr>
      </p:sp>
      <p:pic>
        <p:nvPicPr>
          <p:cNvPr id="13" name="Image 1" descr="Monocle inspector after verifying Fast finality">    </p:cNvPr>
          <p:cNvPicPr>
            <a:picLocks noChangeAspect="1"/>
          </p:cNvPicPr>
          <p:nvPr/>
        </p:nvPicPr>
        <p:blipFill>
          <a:blip r:embed="rId4"/>
          <a:stretch>
            <a:fillRect/>
          </a:stretch>
        </p:blipFill>
        <p:spPr>
          <a:xfrm>
            <a:off x="6894576" y="1883410"/>
            <a:ext cx="4773168" cy="3328924"/>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5B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Monocle Dusk">
  <a:themeElements>
    <a:clrScheme name="Monocle Dusk">
      <a:dk1>
        <a:srgbClr val="12172B"/>
      </a:dk1>
      <a:lt1>
        <a:srgbClr val="EEF1F8"/>
      </a:lt1>
      <a:dk2>
        <a:srgbClr val="1D2546"/>
      </a:dk2>
      <a:lt2>
        <a:srgbClr val="A7AFCC"/>
      </a:lt2>
      <a:accent1>
        <a:srgbClr val="F6C177"/>
      </a:accent1>
      <a:accent2>
        <a:srgbClr val="F29484"/>
      </a:accent2>
      <a:accent3>
        <a:srgbClr val="C77DA8"/>
      </a:accent3>
      <a:accent4>
        <a:srgbClr val="9ED6E0"/>
      </a:accent4>
      <a:accent5>
        <a:srgbClr val="232C52"/>
      </a:accent5>
      <a:accent6>
        <a:srgbClr val="8C95B9"/>
      </a:accent6>
      <a:hlink>
        <a:srgbClr val="F6C177"/>
      </a:hlink>
      <a:folHlink>
        <a:srgbClr val="C77DA8"/>
      </a:folHlink>
    </a:clrScheme>
    <a:fontScheme name="Monocle Dusk">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Monocle: demo day 2</dc:title>
  <dc:subject>PptxGenJS Presentation</dc:subject>
  <dc:creator>Mansi</dc:creator>
  <cp:lastModifiedBy>Mansi</cp:lastModifiedBy>
  <cp:revision>1</cp:revision>
  <dcterms:created xsi:type="dcterms:W3CDTF">2026-10-20T11:57:21Z</dcterms:created>
  <dcterms:modified xsi:type="dcterms:W3CDTF">2026-10-20T11:57:21Z</dcterms:modified>
</cp:coreProperties>
</file>