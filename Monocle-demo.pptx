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One-liner: Monocle explains why finality evidence verifies, fails, or stays inconclusive. The screenshot is the real landing page. Everything runs locally; no wallet and no RPC connection.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Receiving bytes from an RPC endpoint is not verification. A useful tool exposes which check failed and keeps enough evidence to reproduce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six steps. Trust selection is a deliberate user action; Monocle never authenticates the checkpoint.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Symbol plus word means the verdict survives colour blindness and greyscale projectors. This crop is the actual inspector.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Seven outcomes from signed synthetic fixtures. Each conclusion carries a stable diagnostic code. A rejection never claims that a block is non-final.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genuine signature from 65 of 100 stake misses the 80% fast path. Monocle shows the signature check passing and the quorum check failing.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inspector crop: Input, Profile, Context and Finality all pass; the finality check carries FAST_FINALITY_ESTABLISHED.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demo: Fast finality, select checkpoint, verify. Open Tamper lab, signature-bit experiment, verify the comparison: original VERIFIED, experiment REJECTED. Export replay, import, recompute.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recorded testnet response at slot 444625255 remains INCONCLUSIVE: historical checkpoint, signing context, producer compatibility and key qualification have not been established.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native fixture generator stays separate from the verification path, so tests are not grading themselves.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MVP uses a fixed, externally trusted checkpoint. It is a debugger, not an authenticated light client.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Counts are from docs/fixture-catalog.md and docs/status.md at C8; rerun the suite before quoting them for the Dusk build. Safari, Firefox and real devices are untested.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repo and the quickstart. Next: historical checkpoint context so a real capture can move from inconclusive to checked.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IGHT">
    <p:bg>
      <p:bgPr>
        <a:solidFill>
          <a:srgbClr val="1217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5B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5B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monocle-omega.vercel.app/" TargetMode="External"/><Relationship Id="rId3" Type="http://schemas.openxmlformats.org/officeDocument/2006/relationships/hyperlink" Target="https://github.com/mansi0xc/monocle" TargetMode="External"/><Relationship Id="rId1" Type="http://schemas.openxmlformats.org/officeDocument/2006/relationships/image" Target="../media/image-13-1.png"/><Relationship Id="rId4" Type="http://schemas.openxmlformats.org/officeDocument/2006/relationships/image" Target="../media/image-13-2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3200400"/>
            <a:ext cx="5486400" cy="5486400"/>
          </a:xfrm>
          <a:prstGeom prst="ellipse">
            <a:avLst/>
          </a:prstGeom>
          <a:solidFill>
            <a:srgbClr val="F29484">
              <a:alpha val="10000"/>
            </a:srgbClr>
          </a:solidFill>
          <a:ln w="12700">
            <a:solidFill>
              <a:srgbClr val="F2948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0" y="-1371600"/>
            <a:ext cx="5486400" cy="5486400"/>
          </a:xfrm>
          <a:prstGeom prst="ellipse">
            <a:avLst/>
          </a:prstGeom>
          <a:solidFill>
            <a:srgbClr val="F6C177">
              <a:alpha val="8000"/>
            </a:srgbClr>
          </a:solidFill>
          <a:ln w="12700">
            <a:solidFill>
              <a:srgbClr val="F6C177">
                <a:alpha val="0"/>
              </a:srgbClr>
            </a:solidFill>
            <a:prstDash val="solid"/>
          </a:ln>
        </p:spPr>
      </p:sp>
      <p:pic>
        <p:nvPicPr>
          <p:cNvPr id="4" name="Image 0" descr="Monocle 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91640" y="8686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E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monocle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01168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EF1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Finality, explained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EEF1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by check.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02336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A7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open-source debugger for Solana's Alpenglow consensus.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5440680"/>
            <a:ext cx="1463040" cy="2926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6C17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6C1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SOURCE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2331720" y="5440680"/>
            <a:ext cx="1463040" cy="2926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2948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94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RUST + WASM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3931920" y="5440680"/>
            <a:ext cx="2286000" cy="2926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9ED6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ED6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RUNS IN YOUR BROWSER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858000" y="1417320"/>
            <a:ext cx="4937760" cy="3429000"/>
          </a:xfrm>
          <a:prstGeom prst="roundRect">
            <a:avLst>
              <a:gd name="adj" fmla="val 2667"/>
            </a:avLst>
          </a:prstGeom>
          <a:solidFill>
            <a:srgbClr val="0C1022"/>
          </a:solidFill>
          <a:ln w="12700">
            <a:solidFill>
              <a:srgbClr val="3A4275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995160" y="1508760"/>
            <a:ext cx="100584" cy="100584"/>
          </a:xfrm>
          <a:prstGeom prst="ellipse">
            <a:avLst/>
          </a:prstGeom>
          <a:solidFill>
            <a:srgbClr val="F29484"/>
          </a:solidFill>
          <a:ln w="12700">
            <a:solidFill>
              <a:srgbClr val="F2948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178040" y="1508760"/>
            <a:ext cx="100584" cy="100584"/>
          </a:xfrm>
          <a:prstGeom prst="ellipse">
            <a:avLst/>
          </a:prstGeom>
          <a:solidFill>
            <a:srgbClr val="F6C177"/>
          </a:solidFill>
          <a:ln w="12700">
            <a:solidFill>
              <a:srgbClr val="F6C17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60920" y="1508760"/>
            <a:ext cx="100584" cy="100584"/>
          </a:xfrm>
          <a:prstGeom prst="ellipse">
            <a:avLst/>
          </a:prstGeom>
          <a:solidFill>
            <a:srgbClr val="9ED6E0"/>
          </a:solidFill>
          <a:ln w="12700">
            <a:solidFill>
              <a:srgbClr val="9ED6E0"/>
            </a:solidFill>
            <a:prstDash val="solid"/>
          </a:ln>
        </p:spPr>
      </p:sp>
      <p:pic>
        <p:nvPicPr>
          <p:cNvPr id="15" name="Image 1" descr="Monocle landing page her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4576" y="1691640"/>
            <a:ext cx="4864608" cy="311810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5B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5669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EEF1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green checkmark</a:t>
            </a:r>
            <a:endParaRPr lang="en-US" sz="4400" dirty="0"/>
          </a:p>
          <a:p>
            <a:pPr indent="0" marL="0">
              <a:buNone/>
            </a:pPr>
            <a:r>
              <a:rPr lang="en-US" sz="4400" b="1" i="1" dirty="0">
                <a:solidFill>
                  <a:srgbClr val="EEF1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not an explanation.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5760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outside these failures look alike. A binary flag hides which assumption broke.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675120" y="822960"/>
            <a:ext cx="4937760" cy="1188720"/>
          </a:xfrm>
          <a:prstGeom prst="roundRect">
            <a:avLst>
              <a:gd name="adj" fmla="val 9231"/>
            </a:avLst>
          </a:prstGeom>
          <a:solidFill>
            <a:srgbClr val="1D2546"/>
          </a:solidFill>
          <a:ln w="12700">
            <a:solidFill>
              <a:srgbClr val="1D25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903720" y="1005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94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777240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E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serialization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772400" y="14173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7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aggregate signature is encoded incorrectly.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675120" y="2194560"/>
            <a:ext cx="4937760" cy="1188720"/>
          </a:xfrm>
          <a:prstGeom prst="roundRect">
            <a:avLst>
              <a:gd name="adj" fmla="val 9231"/>
            </a:avLst>
          </a:prstGeom>
          <a:solidFill>
            <a:srgbClr val="1D2546"/>
          </a:solidFill>
          <a:ln w="12700">
            <a:solidFill>
              <a:srgbClr val="1D254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03720" y="2377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94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7772400" y="2377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E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signer map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0" y="27889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7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Signers don't match the stake they claim.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675120" y="3566160"/>
            <a:ext cx="4937760" cy="1188720"/>
          </a:xfrm>
          <a:prstGeom prst="roundRect">
            <a:avLst>
              <a:gd name="adj" fmla="val 9231"/>
            </a:avLst>
          </a:prstGeom>
          <a:solidFill>
            <a:srgbClr val="1D2546"/>
          </a:solidFill>
          <a:ln w="12700">
            <a:solidFill>
              <a:srgbClr val="1D254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03720" y="3749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94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0" y="3749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E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protocol version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0" y="41605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7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bytes, read under the wrong rules.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675120" y="4937760"/>
            <a:ext cx="4937760" cy="1188720"/>
          </a:xfrm>
          <a:prstGeom prst="roundRect">
            <a:avLst>
              <a:gd name="adj" fmla="val 9231"/>
            </a:avLst>
          </a:prstGeom>
          <a:solidFill>
            <a:srgbClr val="1D2546"/>
          </a:solidFill>
          <a:ln w="12700">
            <a:solidFill>
              <a:srgbClr val="1D254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03720" y="51206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94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0" y="5120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E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Incomplete evidence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0" y="5532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7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valid notarization with no finalization.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5B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MONOCLE DOES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EF1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 to a scoped conclusion in six steps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429000" cy="1920240"/>
          </a:xfrm>
          <a:prstGeom prst="roundRect">
            <a:avLst>
              <a:gd name="adj" fmla="val 5714"/>
            </a:avLst>
          </a:prstGeom>
          <a:solidFill>
            <a:srgbClr val="1D2546"/>
          </a:solidFill>
          <a:ln w="12700">
            <a:solidFill>
              <a:srgbClr val="1D254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14884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6C1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22860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E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0632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7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a certificate bundle or a labelled synthetic fixture.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297680" y="1965960"/>
            <a:ext cx="3429000" cy="1920240"/>
          </a:xfrm>
          <a:prstGeom prst="roundRect">
            <a:avLst>
              <a:gd name="adj" fmla="val 5714"/>
            </a:avLst>
          </a:prstGeom>
          <a:solidFill>
            <a:srgbClr val="1D2546"/>
          </a:solidFill>
          <a:ln w="12700">
            <a:solidFill>
              <a:srgbClr val="1D254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0" y="214884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6C1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5394960" y="22860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E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30632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7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Explicitly select a validator checkpoint and profile.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955280" y="1965960"/>
            <a:ext cx="3429000" cy="1920240"/>
          </a:xfrm>
          <a:prstGeom prst="roundRect">
            <a:avLst>
              <a:gd name="adj" fmla="val 5714"/>
            </a:avLst>
          </a:prstGeom>
          <a:solidFill>
            <a:srgbClr val="1D2546"/>
          </a:solidFill>
          <a:ln w="12700">
            <a:solidFill>
              <a:srgbClr val="1D254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0" y="214884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6C1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22860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E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30632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7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Encoding, context, signers, BLS signature, stake.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114800"/>
            <a:ext cx="3429000" cy="1920240"/>
          </a:xfrm>
          <a:prstGeom prst="roundRect">
            <a:avLst>
              <a:gd name="adj" fmla="val 5714"/>
            </a:avLst>
          </a:prstGeom>
          <a:solidFill>
            <a:srgbClr val="1D2546"/>
          </a:solidFill>
          <a:ln w="12700">
            <a:solidFill>
              <a:srgbClr val="1D254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42976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294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800" dirty="0"/>
          </a:p>
        </p:txBody>
      </p:sp>
      <p:sp>
        <p:nvSpPr>
          <p:cNvPr id="18" name="Text 16"/>
          <p:cNvSpPr txBox="1"/>
          <p:nvPr/>
        </p:nvSpPr>
        <p:spPr>
          <a:xfrm>
            <a:off x="1737360" y="44348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E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52120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7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VERIFIED, REJECTED or INCONCLUSIVE, with every check.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297680" y="4114800"/>
            <a:ext cx="3429000" cy="1920240"/>
          </a:xfrm>
          <a:prstGeom prst="roundRect">
            <a:avLst>
              <a:gd name="adj" fmla="val 5714"/>
            </a:avLst>
          </a:prstGeom>
          <a:solidFill>
            <a:srgbClr val="1D2546"/>
          </a:solidFill>
          <a:ln w="12700">
            <a:solidFill>
              <a:srgbClr val="1D254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0" y="42976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294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4800" dirty="0"/>
          </a:p>
        </p:txBody>
      </p:sp>
      <p:sp>
        <p:nvSpPr>
          <p:cNvPr id="22" name="Text 20"/>
          <p:cNvSpPr txBox="1"/>
          <p:nvPr/>
        </p:nvSpPr>
        <p:spPr>
          <a:xfrm>
            <a:off x="5394960" y="44348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E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0" y="52120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7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byte; compare freshly computed checks.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7955280" y="4114800"/>
            <a:ext cx="3429000" cy="1920240"/>
          </a:xfrm>
          <a:prstGeom prst="roundRect">
            <a:avLst>
              <a:gd name="adj" fmla="val 5714"/>
            </a:avLst>
          </a:prstGeom>
          <a:solidFill>
            <a:srgbClr val="1D2546"/>
          </a:solidFill>
          <a:ln w="12700">
            <a:solidFill>
              <a:srgbClr val="1D254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0" y="42976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294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4800" dirty="0"/>
          </a:p>
        </p:txBody>
      </p:sp>
      <p:sp>
        <p:nvSpPr>
          <p:cNvPr id="26" name="Text 24"/>
          <p:cNvSpPr txBox="1"/>
          <p:nvPr/>
        </p:nvSpPr>
        <p:spPr>
          <a:xfrm>
            <a:off x="9052560" y="44348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E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</a:t>
            </a:r>
            <a:endParaRPr lang="en-US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0" y="52120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7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evidence; re-verify it offline.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5B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EF1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honest verdicts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120640" cy="1188720"/>
          </a:xfrm>
          <a:prstGeom prst="roundRect">
            <a:avLst>
              <a:gd name="adj" fmla="val 9231"/>
            </a:avLst>
          </a:prstGeom>
          <a:solidFill>
            <a:srgbClr val="1D2546"/>
          </a:solidFill>
          <a:ln w="12700">
            <a:solidFill>
              <a:srgbClr val="1D254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92024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9ED6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19476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ED6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VERIFIED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2350008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E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required check ran and passed, within a stated scope.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154680"/>
            <a:ext cx="5120640" cy="1188720"/>
          </a:xfrm>
          <a:prstGeom prst="roundRect">
            <a:avLst>
              <a:gd name="adj" fmla="val 9231"/>
            </a:avLst>
          </a:prstGeom>
          <a:solidFill>
            <a:srgbClr val="1D2546"/>
          </a:solidFill>
          <a:ln w="12700">
            <a:solidFill>
              <a:srgbClr val="1D254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329184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94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×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1737360" y="33192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94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REJECTED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737360" y="3721608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E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check failed. It does not prove the block is non-final.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26280"/>
            <a:ext cx="5120640" cy="1188720"/>
          </a:xfrm>
          <a:prstGeom prst="roundRect">
            <a:avLst>
              <a:gd name="adj" fmla="val 9231"/>
            </a:avLst>
          </a:prstGeom>
          <a:solidFill>
            <a:srgbClr val="1D2546"/>
          </a:solidFill>
          <a:ln w="12700">
            <a:solidFill>
              <a:srgbClr val="1D254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466344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7AF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1737360" y="46908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7AF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INCONCLUSIVE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737360" y="5093208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E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 missing. Nothing is guessed.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9893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6C1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Status is always a word plus a symbol, never colour alone.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217920" y="1920240"/>
            <a:ext cx="5486400" cy="1722120"/>
          </a:xfrm>
          <a:prstGeom prst="roundRect">
            <a:avLst>
              <a:gd name="adj" fmla="val 5310"/>
            </a:avLst>
          </a:prstGeom>
          <a:solidFill>
            <a:srgbClr val="0C1022"/>
          </a:solidFill>
          <a:ln w="12700">
            <a:solidFill>
              <a:srgbClr val="3A4275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55080" y="2011680"/>
            <a:ext cx="100584" cy="100584"/>
          </a:xfrm>
          <a:prstGeom prst="ellipse">
            <a:avLst/>
          </a:prstGeom>
          <a:solidFill>
            <a:srgbClr val="F29484"/>
          </a:solidFill>
          <a:ln w="12700">
            <a:solidFill>
              <a:srgbClr val="F2948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37960" y="2011680"/>
            <a:ext cx="100584" cy="100584"/>
          </a:xfrm>
          <a:prstGeom prst="ellipse">
            <a:avLst/>
          </a:prstGeom>
          <a:solidFill>
            <a:srgbClr val="F6C177"/>
          </a:solidFill>
          <a:ln w="12700">
            <a:solidFill>
              <a:srgbClr val="F6C17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20840" y="2011680"/>
            <a:ext cx="100584" cy="100584"/>
          </a:xfrm>
          <a:prstGeom prst="ellipse">
            <a:avLst/>
          </a:prstGeom>
          <a:solidFill>
            <a:srgbClr val="9ED6E0"/>
          </a:solidFill>
          <a:ln w="12700">
            <a:solidFill>
              <a:srgbClr val="9ED6E0"/>
            </a:solidFill>
            <a:prstDash val="solid"/>
          </a:ln>
        </p:spPr>
      </p:sp>
      <p:pic>
        <p:nvPicPr>
          <p:cNvPr id="21" name="Image 0" descr="Monocle report: Fast finality verified with an 80 of 100 stake me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54496" y="2194560"/>
            <a:ext cx="5413248" cy="1411224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6217920" y="38252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A7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report header: verdict first, then the stake meter against its threshold.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5B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SCENARIOS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EF1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Seven scenarios you can run today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978408" y="1554480"/>
            <a:ext cx="10241280" cy="4079240"/>
          </a:xfrm>
          <a:prstGeom prst="roundRect">
            <a:avLst>
              <a:gd name="adj" fmla="val 2242"/>
            </a:avLst>
          </a:prstGeom>
          <a:solidFill>
            <a:srgbClr val="0C1022"/>
          </a:solidFill>
          <a:ln w="12700">
            <a:solidFill>
              <a:srgbClr val="3A4275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5568" y="1645920"/>
            <a:ext cx="100584" cy="100584"/>
          </a:xfrm>
          <a:prstGeom prst="ellipse">
            <a:avLst/>
          </a:prstGeom>
          <a:solidFill>
            <a:srgbClr val="F29484"/>
          </a:solidFill>
          <a:ln w="12700">
            <a:solidFill>
              <a:srgbClr val="F2948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98448" y="1645920"/>
            <a:ext cx="100584" cy="100584"/>
          </a:xfrm>
          <a:prstGeom prst="ellipse">
            <a:avLst/>
          </a:prstGeom>
          <a:solidFill>
            <a:srgbClr val="F6C177"/>
          </a:solidFill>
          <a:ln w="12700">
            <a:solidFill>
              <a:srgbClr val="F6C17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81328" y="1645920"/>
            <a:ext cx="100584" cy="100584"/>
          </a:xfrm>
          <a:prstGeom prst="ellipse">
            <a:avLst/>
          </a:prstGeom>
          <a:solidFill>
            <a:srgbClr val="9ED6E0"/>
          </a:solidFill>
          <a:ln w="12700">
            <a:solidFill>
              <a:srgbClr val="9ED6E0"/>
            </a:solidFill>
            <a:prstDash val="solid"/>
          </a:ln>
        </p:spPr>
      </p:sp>
      <p:pic>
        <p:nvPicPr>
          <p:cNvPr id="8" name="Image 0" descr="Monocle landing page list of seven fixture outcomes with diagnostic cod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1828800"/>
            <a:ext cx="10168128" cy="37683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78408" y="574344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C95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examples use synthetic public test keys and invented stake. They make no network claim.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5B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914400"/>
            <a:ext cx="5943600" cy="5943600"/>
          </a:xfrm>
          <a:prstGeom prst="ellipse">
            <a:avLst/>
          </a:prstGeom>
          <a:solidFill>
            <a:srgbClr val="F6C177">
              <a:alpha val="7000"/>
            </a:srgbClr>
          </a:solidFill>
          <a:ln w="12700">
            <a:solidFill>
              <a:srgbClr val="F6C177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FINALITY MATH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EF1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 signature, not enough stake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640080" y="3127248"/>
            <a:ext cx="5120640" cy="0"/>
          </a:xfrm>
          <a:prstGeom prst="line">
            <a:avLst/>
          </a:prstGeom>
          <a:noFill/>
          <a:ln w="15875">
            <a:solidFill>
              <a:srgbClr val="9ED6E0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40080" y="285292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ED6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80% fast path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3785616"/>
            <a:ext cx="5120640" cy="0"/>
          </a:xfrm>
          <a:prstGeom prst="line">
            <a:avLst/>
          </a:prstGeom>
          <a:noFill/>
          <a:ln w="15875">
            <a:solidFill>
              <a:srgbClr val="F6C177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640080" y="351129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6C1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60% slow path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4443984"/>
            <a:ext cx="1188720" cy="1316736"/>
          </a:xfrm>
          <a:prstGeom prst="roundRect">
            <a:avLst>
              <a:gd name="adj" fmla="val 4615"/>
            </a:avLst>
          </a:prstGeom>
          <a:solidFill>
            <a:srgbClr val="F6C177"/>
          </a:solidFill>
          <a:ln w="12700">
            <a:solidFill>
              <a:srgbClr val="F6C17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451713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1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583387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7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560320" y="3621024"/>
            <a:ext cx="1188720" cy="2139696"/>
          </a:xfrm>
          <a:prstGeom prst="roundRect">
            <a:avLst>
              <a:gd name="adj" fmla="val 4615"/>
            </a:avLst>
          </a:prstGeom>
          <a:solidFill>
            <a:srgbClr val="F29484"/>
          </a:solidFill>
          <a:ln w="12700">
            <a:solidFill>
              <a:srgbClr val="F2948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560320" y="369417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1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2560320" y="583387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7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1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206240" y="3127248"/>
            <a:ext cx="1188720" cy="2633472"/>
          </a:xfrm>
          <a:prstGeom prst="roundRect">
            <a:avLst>
              <a:gd name="adj" fmla="val 4615"/>
            </a:avLst>
          </a:prstGeom>
          <a:solidFill>
            <a:srgbClr val="9ED6E0"/>
          </a:solidFill>
          <a:ln w="12700">
            <a:solidFill>
              <a:srgbClr val="9ED6E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206240" y="32004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1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80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583387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7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3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17920" y="1828800"/>
            <a:ext cx="5394960" cy="3563930"/>
          </a:xfrm>
          <a:prstGeom prst="roundRect">
            <a:avLst>
              <a:gd name="adj" fmla="val 2566"/>
            </a:avLst>
          </a:prstGeom>
          <a:solidFill>
            <a:srgbClr val="0C1022"/>
          </a:solidFill>
          <a:ln w="12700">
            <a:solidFill>
              <a:srgbClr val="3A4275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355080" y="1920240"/>
            <a:ext cx="100584" cy="100584"/>
          </a:xfrm>
          <a:prstGeom prst="ellipse">
            <a:avLst/>
          </a:prstGeom>
          <a:solidFill>
            <a:srgbClr val="F29484"/>
          </a:solidFill>
          <a:ln w="12700">
            <a:solidFill>
              <a:srgbClr val="F2948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37960" y="1920240"/>
            <a:ext cx="100584" cy="100584"/>
          </a:xfrm>
          <a:prstGeom prst="ellipse">
            <a:avLst/>
          </a:prstGeom>
          <a:solidFill>
            <a:srgbClr val="F6C177"/>
          </a:solidFill>
          <a:ln w="12700">
            <a:solidFill>
              <a:srgbClr val="F6C17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20840" y="1920240"/>
            <a:ext cx="100584" cy="100584"/>
          </a:xfrm>
          <a:prstGeom prst="ellipse">
            <a:avLst/>
          </a:prstGeom>
          <a:solidFill>
            <a:srgbClr val="9ED6E0"/>
          </a:solidFill>
          <a:ln w="12700">
            <a:solidFill>
              <a:srgbClr val="9ED6E0"/>
            </a:solidFill>
            <a:prstDash val="solid"/>
          </a:ln>
        </p:spPr>
      </p:sp>
      <p:pic>
        <p:nvPicPr>
          <p:cNvPr id="22" name="Image 0" descr="Landing page ridge drawn from fixture stak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54496" y="2103120"/>
            <a:ext cx="5321808" cy="3253034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6217920" y="557561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7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landing ridge is the same data: ranks 0, 1 and 3 reaching 40, 65 and 80 of 100.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6217920" y="616997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6C1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Fast path: one certificate binds the block. Slow path: Notar and Finalize each reach 60%, and their stakes are never added.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5B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INSPECTOR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EF1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check, in plain sight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94560"/>
            <a:ext cx="4206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7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Input, profile, context, finality. Each step shows its status, a readable reason and its exact diagnostic code.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3931920"/>
            <a:ext cx="274320" cy="274320"/>
          </a:xfrm>
          <a:prstGeom prst="ellipse">
            <a:avLst/>
          </a:prstGeom>
          <a:solidFill>
            <a:srgbClr val="F6C177"/>
          </a:solidFill>
          <a:ln w="12700">
            <a:solidFill>
              <a:srgbClr val="F6C177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3840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in a worker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4160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5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WASM, interruptible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4709160"/>
            <a:ext cx="274320" cy="274320"/>
          </a:xfrm>
          <a:prstGeom prst="ellipse">
            <a:avLst/>
          </a:prstGeom>
          <a:solidFill>
            <a:srgbClr val="F29484"/>
          </a:solidFill>
          <a:ln w="12700">
            <a:solidFill>
              <a:srgbClr val="F29484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4617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is explicit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4937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5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checkpoint, your call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5486400"/>
            <a:ext cx="274320" cy="274320"/>
          </a:xfrm>
          <a:prstGeom prst="ellipse">
            <a:avLst/>
          </a:prstGeom>
          <a:solidFill>
            <a:srgbClr val="9ED6E0"/>
          </a:solidFill>
          <a:ln w="12700">
            <a:solidFill>
              <a:srgbClr val="9ED6E0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5394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ready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5715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5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network once loaded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212080" y="1394460"/>
            <a:ext cx="6400800" cy="3611880"/>
          </a:xfrm>
          <a:prstGeom prst="roundRect">
            <a:avLst>
              <a:gd name="adj" fmla="val 2532"/>
            </a:avLst>
          </a:prstGeom>
          <a:solidFill>
            <a:srgbClr val="0C1022"/>
          </a:solidFill>
          <a:ln w="12700">
            <a:solidFill>
              <a:srgbClr val="3A4275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349240" y="1485900"/>
            <a:ext cx="100584" cy="100584"/>
          </a:xfrm>
          <a:prstGeom prst="ellipse">
            <a:avLst/>
          </a:prstGeom>
          <a:solidFill>
            <a:srgbClr val="F29484"/>
          </a:solidFill>
          <a:ln w="12700">
            <a:solidFill>
              <a:srgbClr val="F2948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532120" y="1485900"/>
            <a:ext cx="100584" cy="100584"/>
          </a:xfrm>
          <a:prstGeom prst="ellipse">
            <a:avLst/>
          </a:prstGeom>
          <a:solidFill>
            <a:srgbClr val="F6C177"/>
          </a:solidFill>
          <a:ln w="12700">
            <a:solidFill>
              <a:srgbClr val="F6C17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715000" y="1485900"/>
            <a:ext cx="100584" cy="100584"/>
          </a:xfrm>
          <a:prstGeom prst="ellipse">
            <a:avLst/>
          </a:prstGeom>
          <a:solidFill>
            <a:srgbClr val="9ED6E0"/>
          </a:solidFill>
          <a:ln w="12700">
            <a:solidFill>
              <a:srgbClr val="9ED6E0"/>
            </a:solidFill>
            <a:prstDash val="solid"/>
          </a:ln>
        </p:spPr>
      </p:sp>
      <p:pic>
        <p:nvPicPr>
          <p:cNvPr id="18" name="Image 0" descr="Monocle verification trace with pass status on each 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48656" y="1668780"/>
            <a:ext cx="6327648" cy="33009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5B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EF1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Change one byte. Watch the checks react.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EF1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783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E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14884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7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Immutable. Never modified.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88036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294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8803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E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byte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24612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7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Equal-length replacement in a signature, field or bitmap.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97764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9ED6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3977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E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compare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34340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7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reports recomputed, changes side by side.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07492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6C1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0749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E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file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544068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7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Re-verified on import. Saved labels grant nothing.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0" y="1783080"/>
            <a:ext cx="6126480" cy="4528820"/>
          </a:xfrm>
          <a:prstGeom prst="roundRect">
            <a:avLst>
              <a:gd name="adj" fmla="val 2019"/>
            </a:avLst>
          </a:prstGeom>
          <a:solidFill>
            <a:srgbClr val="0C1022"/>
          </a:solidFill>
          <a:ln w="12700">
            <a:solidFill>
              <a:srgbClr val="3A4275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623560" y="1874520"/>
            <a:ext cx="100584" cy="100584"/>
          </a:xfrm>
          <a:prstGeom prst="ellipse">
            <a:avLst/>
          </a:prstGeom>
          <a:solidFill>
            <a:srgbClr val="F29484"/>
          </a:solidFill>
          <a:ln w="12700">
            <a:solidFill>
              <a:srgbClr val="F2948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06440" y="1874520"/>
            <a:ext cx="100584" cy="100584"/>
          </a:xfrm>
          <a:prstGeom prst="ellipse">
            <a:avLst/>
          </a:prstGeom>
          <a:solidFill>
            <a:srgbClr val="F6C177"/>
          </a:solidFill>
          <a:ln w="12700">
            <a:solidFill>
              <a:srgbClr val="F6C17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89320" y="1874520"/>
            <a:ext cx="100584" cy="100584"/>
          </a:xfrm>
          <a:prstGeom prst="ellipse">
            <a:avLst/>
          </a:prstGeom>
          <a:solidFill>
            <a:srgbClr val="9ED6E0"/>
          </a:solidFill>
          <a:ln w="12700">
            <a:solidFill>
              <a:srgbClr val="9ED6E0"/>
            </a:solidFill>
            <a:prstDash val="solid"/>
          </a:ln>
        </p:spPr>
      </p:sp>
      <p:pic>
        <p:nvPicPr>
          <p:cNvPr id="20" name="Image 0" descr="Tamper lab: original verified, experiment rejected, with recorded byte chan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2976" y="2057400"/>
            <a:ext cx="6053328" cy="421792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5B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2743200"/>
            <a:ext cx="5486400" cy="5486400"/>
          </a:xfrm>
          <a:prstGeom prst="ellipse">
            <a:avLst/>
          </a:prstGeom>
          <a:solidFill>
            <a:srgbClr val="C77DA8">
              <a:alpha val="8000"/>
            </a:srgbClr>
          </a:solidFill>
          <a:ln w="12700">
            <a:solidFill>
              <a:srgbClr val="C77DA8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NETWORK DATA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EF1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network data, an honest answer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468880"/>
            <a:ext cx="4206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7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getAgGenesisCert response is inspected, never promoted. Without its historical checkpoint the outcome stays inconclusive.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389120"/>
            <a:ext cx="1920240" cy="2926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A7AF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7AF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 INCONCLUSIVE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846320"/>
            <a:ext cx="2926080" cy="2926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6C17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6C1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CAPTURE_CONTEXT_MISSING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212080" y="914400"/>
            <a:ext cx="6400800" cy="4719320"/>
          </a:xfrm>
          <a:prstGeom prst="roundRect">
            <a:avLst>
              <a:gd name="adj" fmla="val 1938"/>
            </a:avLst>
          </a:prstGeom>
          <a:solidFill>
            <a:srgbClr val="0C1022"/>
          </a:solidFill>
          <a:ln w="12700">
            <a:solidFill>
              <a:srgbClr val="3A4275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349240" y="1005840"/>
            <a:ext cx="100584" cy="100584"/>
          </a:xfrm>
          <a:prstGeom prst="ellipse">
            <a:avLst/>
          </a:prstGeom>
          <a:solidFill>
            <a:srgbClr val="F29484"/>
          </a:solidFill>
          <a:ln w="12700">
            <a:solidFill>
              <a:srgbClr val="F2948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532120" y="1005840"/>
            <a:ext cx="100584" cy="100584"/>
          </a:xfrm>
          <a:prstGeom prst="ellipse">
            <a:avLst/>
          </a:prstGeom>
          <a:solidFill>
            <a:srgbClr val="F6C177"/>
          </a:solidFill>
          <a:ln w="12700">
            <a:solidFill>
              <a:srgbClr val="F6C17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15000" y="1005840"/>
            <a:ext cx="100584" cy="100584"/>
          </a:xfrm>
          <a:prstGeom prst="ellipse">
            <a:avLst/>
          </a:prstGeom>
          <a:solidFill>
            <a:srgbClr val="9ED6E0"/>
          </a:solidFill>
          <a:ln w="12700">
            <a:solidFill>
              <a:srgbClr val="9ED6E0"/>
            </a:solidFill>
            <a:prstDash val="solid"/>
          </a:ln>
        </p:spPr>
      </p:sp>
      <p:pic>
        <p:nvPicPr>
          <p:cNvPr id="12" name="Image 0" descr="Monocle genesis capture inspection listing what is miss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48656" y="1188720"/>
            <a:ext cx="6327648" cy="440842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5B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EF1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Rust core, native and in the browser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514600" cy="2377440"/>
          </a:xfrm>
          <a:prstGeom prst="roundRect">
            <a:avLst>
              <a:gd name="adj" fmla="val 4615"/>
            </a:avLst>
          </a:prstGeom>
          <a:solidFill>
            <a:srgbClr val="1D2546"/>
          </a:solidFill>
          <a:ln w="12700">
            <a:solidFill>
              <a:srgbClr val="1D25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331720"/>
            <a:ext cx="274320" cy="274320"/>
          </a:xfrm>
          <a:prstGeom prst="ellipse">
            <a:avLst/>
          </a:prstGeom>
          <a:solidFill>
            <a:srgbClr val="F6C177"/>
          </a:solidFill>
          <a:ln w="12700">
            <a:solidFill>
              <a:srgbClr val="F6C177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743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monocle-core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2918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7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Rust. Parsing, BLS checks, stake, finality, tamper, capture.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127248" y="30175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429000" y="2103120"/>
            <a:ext cx="2514600" cy="2377440"/>
          </a:xfrm>
          <a:prstGeom prst="roundRect">
            <a:avLst>
              <a:gd name="adj" fmla="val 4615"/>
            </a:avLst>
          </a:prstGeom>
          <a:solidFill>
            <a:srgbClr val="1D2546"/>
          </a:solidFill>
          <a:ln w="12700">
            <a:solidFill>
              <a:srgbClr val="1D254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2331720"/>
            <a:ext cx="274320" cy="274320"/>
          </a:xfrm>
          <a:prstGeom prst="ellipse">
            <a:avLst/>
          </a:prstGeom>
          <a:solidFill>
            <a:srgbClr val="F29484"/>
          </a:solidFill>
          <a:ln w="12700">
            <a:solidFill>
              <a:srgbClr val="F29484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57600" y="2743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monocle-wasm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2918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7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byte interface over the same core.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916168" y="30175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6217920" y="2103120"/>
            <a:ext cx="2514600" cy="2377440"/>
          </a:xfrm>
          <a:prstGeom prst="roundRect">
            <a:avLst>
              <a:gd name="adj" fmla="val 4615"/>
            </a:avLst>
          </a:prstGeom>
          <a:solidFill>
            <a:srgbClr val="1D2546"/>
          </a:solidFill>
          <a:ln w="12700">
            <a:solidFill>
              <a:srgbClr val="1D254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46520" y="2331720"/>
            <a:ext cx="274320" cy="274320"/>
          </a:xfrm>
          <a:prstGeom prst="ellipse">
            <a:avLst/>
          </a:prstGeom>
          <a:solidFill>
            <a:srgbClr val="C77DA8"/>
          </a:solidFill>
          <a:ln w="12700">
            <a:solidFill>
              <a:srgbClr val="C77DA8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46520" y="2743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Verifier worker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32918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7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Interruptible. Changes invalidate old results.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705088" y="30175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9006840" y="2103120"/>
            <a:ext cx="2514600" cy="2377440"/>
          </a:xfrm>
          <a:prstGeom prst="roundRect">
            <a:avLst>
              <a:gd name="adj" fmla="val 4615"/>
            </a:avLst>
          </a:prstGeom>
          <a:solidFill>
            <a:srgbClr val="1D2546"/>
          </a:solidFill>
          <a:ln w="12700">
            <a:solidFill>
              <a:srgbClr val="1D254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2331720"/>
            <a:ext cx="274320" cy="274320"/>
          </a:xfrm>
          <a:prstGeom prst="ellipse">
            <a:avLst/>
          </a:prstGeom>
          <a:solidFill>
            <a:srgbClr val="9ED6E0"/>
          </a:solidFill>
          <a:ln w="12700">
            <a:solidFill>
              <a:srgbClr val="9ED6E0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35440" y="2743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React inspector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235440" y="32918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7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Evidence, trust, report, experiments.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9377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E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Rust · WebAssembly · React 19 · TypeScript · Vite · Playwright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4406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7AF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wallet. No RPC connection. No external font or image service at runtime.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5B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BOUNDARIES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EF1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Monocle refuses to claim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303520" cy="4023360"/>
          </a:xfrm>
          <a:prstGeom prst="roundRect">
            <a:avLst>
              <a:gd name="adj" fmla="val 2727"/>
            </a:avLst>
          </a:prstGeom>
          <a:solidFill>
            <a:srgbClr val="1D2546"/>
          </a:solidFill>
          <a:ln w="12700">
            <a:solidFill>
              <a:srgbClr val="1D25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0" y="1828800"/>
            <a:ext cx="5303520" cy="4023360"/>
          </a:xfrm>
          <a:prstGeom prst="roundRect">
            <a:avLst>
              <a:gd name="adj" fmla="val 2727"/>
            </a:avLst>
          </a:prstGeom>
          <a:solidFill>
            <a:srgbClr val="1D2546"/>
          </a:solidFill>
          <a:ln w="12700">
            <a:solidFill>
              <a:srgbClr val="1D25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057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9ED6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does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697480"/>
            <a:ext cx="4663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E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provenance, structure, trust, validity and finality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E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trust basis next to every result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E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 missing check different from a failed one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E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untrusted strings as text; keep big integers exact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057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94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does not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2697480"/>
            <a:ext cx="4663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E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 validator-set changes across epochs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E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transaction execution or run a bridge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E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a saved certificate or RPC response as verified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E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real-network verification. It is not yet established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5B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EF1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to be reproduced, not just shown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514600" cy="2743200"/>
          </a:xfrm>
          <a:prstGeom prst="roundRect">
            <a:avLst>
              <a:gd name="adj" fmla="val 4364"/>
            </a:avLst>
          </a:prstGeom>
          <a:solidFill>
            <a:srgbClr val="1D2546"/>
          </a:solidFill>
          <a:ln w="12700">
            <a:solidFill>
              <a:srgbClr val="1D254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37744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6C1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8862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E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certificate scenarios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429000" y="2103120"/>
            <a:ext cx="2514600" cy="2743200"/>
          </a:xfrm>
          <a:prstGeom prst="roundRect">
            <a:avLst>
              <a:gd name="adj" fmla="val 4364"/>
            </a:avLst>
          </a:prstGeom>
          <a:solidFill>
            <a:srgbClr val="1D2546"/>
          </a:solidFill>
          <a:ln w="12700">
            <a:solidFill>
              <a:srgbClr val="1D254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03320" y="237744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294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</a:t>
            </a:r>
            <a:endParaRPr lang="en-US" sz="80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38862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E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finality composition scenarios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217920" y="2103120"/>
            <a:ext cx="2514600" cy="2743200"/>
          </a:xfrm>
          <a:prstGeom prst="roundRect">
            <a:avLst>
              <a:gd name="adj" fmla="val 4364"/>
            </a:avLst>
          </a:prstGeom>
          <a:solidFill>
            <a:srgbClr val="1D2546"/>
          </a:solidFill>
          <a:ln w="12700">
            <a:solidFill>
              <a:srgbClr val="1D254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92240" y="237744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9ED6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33</a:t>
            </a:r>
            <a:endParaRPr lang="en-US" sz="80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38862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E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browser tests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9006840" y="2103120"/>
            <a:ext cx="2514600" cy="2743200"/>
          </a:xfrm>
          <a:prstGeom prst="roundRect">
            <a:avLst>
              <a:gd name="adj" fmla="val 4364"/>
            </a:avLst>
          </a:prstGeom>
          <a:solidFill>
            <a:srgbClr val="1D2546"/>
          </a:solidFill>
          <a:ln w="12700">
            <a:solidFill>
              <a:srgbClr val="1D254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81160" y="237744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77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8000" dirty="0"/>
          </a:p>
        </p:txBody>
      </p:sp>
      <p:sp>
        <p:nvSpPr>
          <p:cNvPr id="15" name="Text 13"/>
          <p:cNvSpPr txBox="1"/>
          <p:nvPr/>
        </p:nvSpPr>
        <p:spPr>
          <a:xfrm>
            <a:off x="9281160" y="38862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E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lifecycle tests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3035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7AF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Plus WCAG A/AA scans and zero-network offline checks.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5B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2286000"/>
            <a:ext cx="6400800" cy="6400800"/>
          </a:xfrm>
          <a:prstGeom prst="ellipse">
            <a:avLst/>
          </a:prstGeom>
          <a:solidFill>
            <a:srgbClr val="F29484">
              <a:alpha val="9000"/>
            </a:srgbClr>
          </a:solidFill>
          <a:ln w="12700">
            <a:solidFill>
              <a:srgbClr val="F29484">
                <a:alpha val="0"/>
              </a:srgbClr>
            </a:solidFill>
            <a:prstDash val="solid"/>
          </a:ln>
        </p:spPr>
      </p:sp>
      <p:pic>
        <p:nvPicPr>
          <p:cNvPr id="3" name="Image 0" descr="Monocle 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40080"/>
            <a:ext cx="640080" cy="6400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1554480"/>
            <a:ext cx="5669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EEF1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Try it live.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EEF1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install needed.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3832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7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a signed example, pick its checkpoint, verify.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731520" y="4114800"/>
            <a:ext cx="5669280" cy="914400"/>
          </a:xfrm>
          <a:prstGeom prst="roundRect">
            <a:avLst>
              <a:gd name="adj" fmla="val 50000"/>
            </a:avLst>
          </a:prstGeom>
          <a:solidFill>
            <a:srgbClr val="232C52"/>
          </a:solidFill>
          <a:ln w="25400">
            <a:solidFill>
              <a:srgbClr val="F6C177"/>
            </a:solidFill>
            <a:prstDash val="solid"/>
          </a:ln>
        </p:spPr>
      </p:sp>
      <p:sp>
        <p:nvSpPr>
          <p:cNvPr id="7" name="Text 4">
            <a:hlinkClick r:id="rId2" tooltip="Open Monocle"/>
          </p:cNvPr>
          <p:cNvSpPr txBox="1"/>
          <p:nvPr/>
        </p:nvSpPr>
        <p:spPr>
          <a:xfrm>
            <a:off x="731520" y="411480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u="sng" dirty="0">
                <a:solidFill>
                  <a:srgbClr val="F6C177"/>
                </a:solidFill>
                <a:latin typeface="Georgia" pitchFamily="34" charset="0"/>
                <a:ea typeface="Georgia" pitchFamily="34" charset="-122"/>
                <a:cs typeface="Georgia" pitchFamily="34" charset="-120"/>
                <a:hlinkClick r:id="rId2" invalidUrl="" action="" tgtFrame="" tooltip="Open Monocl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monocle-omega.vercel.app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54864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7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on GitHub: </a:t>
            </a:r>
            <a:pPr indent="0" marL="0">
              <a:buNone/>
            </a:pPr>
            <a:r>
              <a:rPr lang="en-US" sz="1300" u="sng" dirty="0">
                <a:solidFill>
                  <a:srgbClr val="A7AFC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github.com/mansi0xc/monocle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858000" y="1280160"/>
            <a:ext cx="4846320" cy="3639820"/>
          </a:xfrm>
          <a:prstGeom prst="roundRect">
            <a:avLst>
              <a:gd name="adj" fmla="val 2512"/>
            </a:avLst>
          </a:prstGeom>
          <a:solidFill>
            <a:srgbClr val="0C1022"/>
          </a:solidFill>
          <a:ln w="12700">
            <a:solidFill>
              <a:srgbClr val="3A4275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995160" y="1371600"/>
            <a:ext cx="100584" cy="100584"/>
          </a:xfrm>
          <a:prstGeom prst="ellipse">
            <a:avLst/>
          </a:prstGeom>
          <a:solidFill>
            <a:srgbClr val="F29484"/>
          </a:solidFill>
          <a:ln w="12700">
            <a:solidFill>
              <a:srgbClr val="F2948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178040" y="1371600"/>
            <a:ext cx="100584" cy="100584"/>
          </a:xfrm>
          <a:prstGeom prst="ellipse">
            <a:avLst/>
          </a:prstGeom>
          <a:solidFill>
            <a:srgbClr val="F6C177"/>
          </a:solidFill>
          <a:ln w="12700">
            <a:solidFill>
              <a:srgbClr val="F6C17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360920" y="1371600"/>
            <a:ext cx="100584" cy="100584"/>
          </a:xfrm>
          <a:prstGeom prst="ellipse">
            <a:avLst/>
          </a:prstGeom>
          <a:solidFill>
            <a:srgbClr val="9ED6E0"/>
          </a:solidFill>
          <a:ln w="12700">
            <a:solidFill>
              <a:srgbClr val="9ED6E0"/>
            </a:solidFill>
            <a:prstDash val="solid"/>
          </a:ln>
        </p:spPr>
      </p:sp>
      <p:pic>
        <p:nvPicPr>
          <p:cNvPr id="13" name="Image 1" descr="Monocle inspector after verifying Fast finalit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4576" y="1554480"/>
            <a:ext cx="4773168" cy="332892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5B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le Dusk">
  <a:themeElements>
    <a:clrScheme name="Monocle Dusk">
      <a:dk1>
        <a:srgbClr val="12172B"/>
      </a:dk1>
      <a:lt1>
        <a:srgbClr val="EEF1F8"/>
      </a:lt1>
      <a:dk2>
        <a:srgbClr val="1D2546"/>
      </a:dk2>
      <a:lt2>
        <a:srgbClr val="A7AFCC"/>
      </a:lt2>
      <a:accent1>
        <a:srgbClr val="F6C177"/>
      </a:accent1>
      <a:accent2>
        <a:srgbClr val="F29484"/>
      </a:accent2>
      <a:accent3>
        <a:srgbClr val="C77DA8"/>
      </a:accent3>
      <a:accent4>
        <a:srgbClr val="9ED6E0"/>
      </a:accent4>
      <a:accent5>
        <a:srgbClr val="232C52"/>
      </a:accent5>
      <a:accent6>
        <a:srgbClr val="8C95B9"/>
      </a:accent6>
      <a:hlink>
        <a:srgbClr val="F6C177"/>
      </a:hlink>
      <a:folHlink>
        <a:srgbClr val="C77DA8"/>
      </a:folHlink>
    </a:clrScheme>
    <a:fontScheme name="Monocle Dusk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Monocle: a finality debugger for Solana Alpenglow</dc:title>
  <dc:subject>PptxGenJS Presentation</dc:subject>
  <dc:creator>Mansi</dc:creator>
  <cp:lastModifiedBy>Mansi</cp:lastModifiedBy>
  <cp:revision>1</cp:revision>
  <dcterms:created xsi:type="dcterms:W3CDTF">2026-10-16T09:00:22Z</dcterms:created>
  <dcterms:modified xsi:type="dcterms:W3CDTF">2026-10-16T09:00:22Z</dcterms:modified>
</cp:coreProperties>
</file>