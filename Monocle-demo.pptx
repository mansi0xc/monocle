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One-liner: Monocle explains why finality evidence verifies, fails, or stays inconclusive. The screenshot is the real landing page. Everything runs locally; no wallet and no RPC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Receiving bytes from an RPC endpoint is not verification. A useful tool exposes which check failed and keeps enough evidence to reproduce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steps. Trust selection is a deliberate user action; Monocle never authenticates the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Symbol plus word means the verdict survives colour blindness and greyscale projectors. This crop is the actual inspector.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outcomes from signed synthetic fixtures. Each conclusion carries a stable diagnostic code. A rejection never claims that a block is non-final.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genuine signature from 65 of 100 stake misses the 80% fast path. Monocle shows the signature check passing and the quorum check failing.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inspector crop: Input, Profile, Context and Finality all pass; the finality check carries FAST_FINALITY_ESTABLISHED.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Fast finality, select checkpoint, verify. Open Tamper lab, signature-bit experiment, verify the comparison: original VERIFIED, experiment REJECTED. Export replay, import, recompute.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recorded testnet response at slot 444625255 remains INCONCLUSIVE: historical checkpoint, signing context, producer compatibility and key qualification have not been established.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native fixture generator stays separate from the verification path, so tests are not grading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MVP uses a fixed, externally trusted checkpoint. It is a debugger, not an authenticated light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are from docs/fixture-catalog.md and docs/status.md at C8; rerun the suite before quoting them for the Dusk build. Safari, Firefox and real devices are untested.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repo and the quickstart. Next: historical checkpoint context so a real capture can move from inconclusive to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F29484">
              <a:alpha val="10000"/>
            </a:srgbClr>
          </a:solidFill>
          <a:ln w="12700">
            <a:solidFill>
              <a:srgbClr val="F2948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F6C177">
              <a:alpha val="8000"/>
            </a:srgbClr>
          </a:solidFill>
          <a:ln w="12700">
            <a:solidFill>
              <a:srgbClr val="F6C177">
                <a:alpha val="0"/>
              </a:srgbClr>
            </a:solidFill>
            <a:prstDash val="solid"/>
          </a:ln>
        </p:spPr>
      </p:sp>
      <p:pic>
        <p:nvPicPr>
          <p:cNvPr id="4" name="Image 0" descr="Monocle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868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monocle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finality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the summit.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0233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finality debugger for Solana's Alpenglow consensus. It names the check that stopped it.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440680"/>
            <a:ext cx="146304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6C17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1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331720" y="5440680"/>
            <a:ext cx="146304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2948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+ WASM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5440680"/>
            <a:ext cx="228600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ED6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IN YOUR BROWSER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417320"/>
            <a:ext cx="4937760" cy="3429000"/>
          </a:xfrm>
          <a:prstGeom prst="roundRect">
            <a:avLst>
              <a:gd name="adj" fmla="val 2667"/>
            </a:avLst>
          </a:prstGeom>
          <a:solidFill>
            <a:srgbClr val="0C1022"/>
          </a:solidFill>
          <a:ln w="12700">
            <a:solidFill>
              <a:srgbClr val="3A427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95160" y="1508760"/>
            <a:ext cx="100584" cy="100584"/>
          </a:xfrm>
          <a:prstGeom prst="ellipse">
            <a:avLst/>
          </a:prstGeom>
          <a:solidFill>
            <a:srgbClr val="F29484"/>
          </a:solidFill>
          <a:ln w="12700">
            <a:solidFill>
              <a:srgbClr val="F2948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78040" y="1508760"/>
            <a:ext cx="100584" cy="100584"/>
          </a:xfrm>
          <a:prstGeom prst="ellipse">
            <a:avLst/>
          </a:prstGeom>
          <a:solidFill>
            <a:srgbClr val="F6C177"/>
          </a:solidFill>
          <a:ln w="12700">
            <a:solidFill>
              <a:srgbClr val="F6C17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60920" y="1508760"/>
            <a:ext cx="100584" cy="100584"/>
          </a:xfrm>
          <a:prstGeom prst="ellipse">
            <a:avLst/>
          </a:prstGeom>
          <a:solidFill>
            <a:srgbClr val="9ED6E0"/>
          </a:solidFill>
          <a:ln w="12700">
            <a:solidFill>
              <a:srgbClr val="9ED6E0"/>
            </a:solidFill>
            <a:prstDash val="solid"/>
          </a:ln>
        </p:spPr>
      </p:sp>
      <p:pic>
        <p:nvPicPr>
          <p:cNvPr id="15" name="Image 1" descr="Monocle landing page he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1691640"/>
            <a:ext cx="4864608" cy="31181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green checkmark</a:t>
            </a:r>
            <a:endParaRPr lang="en-US" sz="4400" dirty="0"/>
          </a:p>
          <a:p>
            <a:pPr indent="0" marL="0">
              <a:buNone/>
            </a:pPr>
            <a:r>
              <a:rPr lang="en-US" sz="4400" b="1" i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not an explanation.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outside these failures look alike. A binary flag hides which assumption broke.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822960"/>
            <a:ext cx="4937760" cy="1188720"/>
          </a:xfrm>
          <a:prstGeom prst="roundRect">
            <a:avLst>
              <a:gd name="adj" fmla="val 9231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0372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9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serialization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signature is encoded incorrectly.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2194560"/>
            <a:ext cx="4937760" cy="1188720"/>
          </a:xfrm>
          <a:prstGeom prst="roundRect">
            <a:avLst>
              <a:gd name="adj" fmla="val 9231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0372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9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signer map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Signers don't match the stake they claim.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3566160"/>
            <a:ext cx="4937760" cy="1188720"/>
          </a:xfrm>
          <a:prstGeom prst="roundRect">
            <a:avLst>
              <a:gd name="adj" fmla="val 9231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3749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9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protocol version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bytes, read under the wrong rules.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4937760"/>
            <a:ext cx="4937760" cy="1188720"/>
          </a:xfrm>
          <a:prstGeom prst="roundRect">
            <a:avLst>
              <a:gd name="adj" fmla="val 9231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5120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9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evidence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5532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notarization with no finalization.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MONOCLE DOES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to a scoped conclusion in six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6C1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certificate bundle or a labelled synthetic fixture.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6C1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select a validator checkpoint and profile.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6C1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context, signers, BLS signature, stake.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297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9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434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REJECTED or INCONCLUSIVE, with every check.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97680" y="41148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4297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9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4434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byte; compare freshly computed checks.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955280" y="41148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0" y="4297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9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8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4434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evidence; re-verify it offline.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honest verdicts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ED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3500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required check ran and passed, within a stated scope.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918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9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319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9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7216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failed. It does not prove the block is non-final.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6634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7AF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690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A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INCONCLUSIVE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5093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missing. Nothing is guessed.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89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C1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is always a word plus a symbol, never colour alone.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5486400" cy="1722120"/>
          </a:xfrm>
          <a:prstGeom prst="roundRect">
            <a:avLst>
              <a:gd name="adj" fmla="val 5310"/>
            </a:avLst>
          </a:prstGeom>
          <a:solidFill>
            <a:srgbClr val="0C1022"/>
          </a:solidFill>
          <a:ln w="12700">
            <a:solidFill>
              <a:srgbClr val="3A427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2011680"/>
            <a:ext cx="100584" cy="100584"/>
          </a:xfrm>
          <a:prstGeom prst="ellipse">
            <a:avLst/>
          </a:prstGeom>
          <a:solidFill>
            <a:srgbClr val="F29484"/>
          </a:solidFill>
          <a:ln w="12700">
            <a:solidFill>
              <a:srgbClr val="F294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011680"/>
            <a:ext cx="100584" cy="100584"/>
          </a:xfrm>
          <a:prstGeom prst="ellipse">
            <a:avLst/>
          </a:prstGeom>
          <a:solidFill>
            <a:srgbClr val="F6C177"/>
          </a:solidFill>
          <a:ln w="12700">
            <a:solidFill>
              <a:srgbClr val="F6C1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2011680"/>
            <a:ext cx="100584" cy="100584"/>
          </a:xfrm>
          <a:prstGeom prst="ellipse">
            <a:avLst/>
          </a:prstGeom>
          <a:solidFill>
            <a:srgbClr val="9ED6E0"/>
          </a:solidFill>
          <a:ln w="12700">
            <a:solidFill>
              <a:srgbClr val="9ED6E0"/>
            </a:solidFill>
            <a:prstDash val="solid"/>
          </a:ln>
        </p:spPr>
      </p:sp>
      <p:pic>
        <p:nvPicPr>
          <p:cNvPr id="21" name="Image 0" descr="Monocle report: Fast finality verified with an 80 of 100 stake me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496" y="2194560"/>
            <a:ext cx="5413248" cy="141122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217920" y="3825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report header: verdict first, then the stake meter against its threshold.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run ends with a reason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17320" y="1554480"/>
            <a:ext cx="9326880" cy="4484370"/>
          </a:xfrm>
          <a:prstGeom prst="roundRect">
            <a:avLst>
              <a:gd name="adj" fmla="val 2039"/>
            </a:avLst>
          </a:prstGeom>
          <a:solidFill>
            <a:srgbClr val="0C1022"/>
          </a:solidFill>
          <a:ln w="12700">
            <a:solidFill>
              <a:srgbClr val="3A427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645920"/>
            <a:ext cx="100584" cy="100584"/>
          </a:xfrm>
          <a:prstGeom prst="ellipse">
            <a:avLst/>
          </a:prstGeom>
          <a:solidFill>
            <a:srgbClr val="F29484"/>
          </a:solidFill>
          <a:ln w="12700">
            <a:solidFill>
              <a:srgbClr val="F294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645920"/>
            <a:ext cx="100584" cy="100584"/>
          </a:xfrm>
          <a:prstGeom prst="ellipse">
            <a:avLst/>
          </a:prstGeom>
          <a:solidFill>
            <a:srgbClr val="F6C177"/>
          </a:solidFill>
          <a:ln w="12700">
            <a:solidFill>
              <a:srgbClr val="F6C1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645920"/>
            <a:ext cx="100584" cy="100584"/>
          </a:xfrm>
          <a:prstGeom prst="ellipse">
            <a:avLst/>
          </a:prstGeom>
          <a:solidFill>
            <a:srgbClr val="9ED6E0"/>
          </a:solidFill>
          <a:ln w="12700">
            <a:solidFill>
              <a:srgbClr val="9ED6E0"/>
            </a:solidFill>
            <a:prstDash val="solid"/>
          </a:ln>
        </p:spPr>
      </p:sp>
      <p:pic>
        <p:nvPicPr>
          <p:cNvPr id="8" name="Image 0" descr="Monocle landing page list of seven fixture outcomes with diagnostic co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1828800"/>
            <a:ext cx="9253728" cy="41734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614857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examples use synthetic public test keys and invented stake. They make no network claim.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914400"/>
            <a:ext cx="5943600" cy="5943600"/>
          </a:xfrm>
          <a:prstGeom prst="ellipse">
            <a:avLst/>
          </a:prstGeom>
          <a:solidFill>
            <a:srgbClr val="F6C177">
              <a:alpha val="7000"/>
            </a:srgbClr>
          </a:solidFill>
          <a:ln w="12700">
            <a:solidFill>
              <a:srgbClr val="F6C177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FINALITY MATH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 signature, not enough stake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3127248"/>
            <a:ext cx="5120640" cy="0"/>
          </a:xfrm>
          <a:prstGeom prst="line">
            <a:avLst/>
          </a:prstGeom>
          <a:noFill/>
          <a:ln w="15875">
            <a:solidFill>
              <a:srgbClr val="9ED6E0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40080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 fast path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785616"/>
            <a:ext cx="5120640" cy="0"/>
          </a:xfrm>
          <a:prstGeom prst="line">
            <a:avLst/>
          </a:prstGeom>
          <a:noFill/>
          <a:ln w="15875">
            <a:solidFill>
              <a:srgbClr val="F6C177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40080" y="3511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C1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60% slow path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4443984"/>
            <a:ext cx="1188720" cy="1316736"/>
          </a:xfrm>
          <a:prstGeom prst="roundRect">
            <a:avLst>
              <a:gd name="adj" fmla="val 4615"/>
            </a:avLst>
          </a:prstGeom>
          <a:solidFill>
            <a:srgbClr val="F6C177"/>
          </a:solidFill>
          <a:ln w="12700">
            <a:solidFill>
              <a:srgbClr val="F6C17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5171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833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3621024"/>
            <a:ext cx="1188720" cy="2139696"/>
          </a:xfrm>
          <a:prstGeom prst="roundRect">
            <a:avLst>
              <a:gd name="adj" fmla="val 4615"/>
            </a:avLst>
          </a:prstGeom>
          <a:solidFill>
            <a:srgbClr val="F29484"/>
          </a:solidFill>
          <a:ln w="12700">
            <a:solidFill>
              <a:srgbClr val="F2948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3694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5833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3127248"/>
            <a:ext cx="1188720" cy="2633472"/>
          </a:xfrm>
          <a:prstGeom prst="roundRect">
            <a:avLst>
              <a:gd name="adj" fmla="val 4615"/>
            </a:avLst>
          </a:prstGeom>
          <a:solidFill>
            <a:srgbClr val="9ED6E0"/>
          </a:solidFill>
          <a:ln w="12700">
            <a:solidFill>
              <a:srgbClr val="9ED6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5833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5394960" cy="3695514"/>
          </a:xfrm>
          <a:prstGeom prst="roundRect">
            <a:avLst>
              <a:gd name="adj" fmla="val 2474"/>
            </a:avLst>
          </a:prstGeom>
          <a:solidFill>
            <a:srgbClr val="0C1022"/>
          </a:solidFill>
          <a:ln w="12700">
            <a:solidFill>
              <a:srgbClr val="3A427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920240"/>
            <a:ext cx="100584" cy="100584"/>
          </a:xfrm>
          <a:prstGeom prst="ellipse">
            <a:avLst/>
          </a:prstGeom>
          <a:solidFill>
            <a:srgbClr val="F29484"/>
          </a:solidFill>
          <a:ln w="12700">
            <a:solidFill>
              <a:srgbClr val="F294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1920240"/>
            <a:ext cx="100584" cy="100584"/>
          </a:xfrm>
          <a:prstGeom prst="ellipse">
            <a:avLst/>
          </a:prstGeom>
          <a:solidFill>
            <a:srgbClr val="F6C177"/>
          </a:solidFill>
          <a:ln w="12700">
            <a:solidFill>
              <a:srgbClr val="F6C1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1920240"/>
            <a:ext cx="100584" cy="100584"/>
          </a:xfrm>
          <a:prstGeom prst="ellipse">
            <a:avLst/>
          </a:prstGeom>
          <a:solidFill>
            <a:srgbClr val="9ED6E0"/>
          </a:solidFill>
          <a:ln w="12700">
            <a:solidFill>
              <a:srgbClr val="9ED6E0"/>
            </a:solidFill>
            <a:prstDash val="solid"/>
          </a:ln>
        </p:spPr>
      </p:sp>
      <p:pic>
        <p:nvPicPr>
          <p:cNvPr id="22" name="Image 0" descr="Landing page ridge drawn from fixture st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496" y="2103120"/>
            <a:ext cx="5321808" cy="338461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217920" y="570719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ridge is the same data: ranks 0, 1 and 3 reaching 40, 65 and 80 of 100.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217920" y="630155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6C1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path: one certificate binds the block. Slow path: Notar and Finalize each reach 60%, and their stakes are never added.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check, in plain sight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profile, context, finality. Each step shows its status, a readable reason and its exact diagnostic code.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274320" cy="274320"/>
          </a:xfrm>
          <a:prstGeom prst="ellipse">
            <a:avLst/>
          </a:prstGeom>
          <a:solidFill>
            <a:srgbClr val="F6C177"/>
          </a:solidFill>
          <a:ln w="12700">
            <a:solidFill>
              <a:srgbClr val="F6C177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a worker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WASM, interruptible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274320" cy="274320"/>
          </a:xfrm>
          <a:prstGeom prst="ellipse">
            <a:avLst/>
          </a:prstGeom>
          <a:solidFill>
            <a:srgbClr val="F29484"/>
          </a:solidFill>
          <a:ln w="12700">
            <a:solidFill>
              <a:srgbClr val="F2948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explicit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checkpoint, your call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5486400"/>
            <a:ext cx="274320" cy="274320"/>
          </a:xfrm>
          <a:prstGeom prst="ellipse">
            <a:avLst/>
          </a:prstGeom>
          <a:solidFill>
            <a:srgbClr val="9ED6E0"/>
          </a:solidFill>
          <a:ln w="12700">
            <a:solidFill>
              <a:srgbClr val="9ED6E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5394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ready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5715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network once loaded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914400"/>
            <a:ext cx="6400800" cy="3611880"/>
          </a:xfrm>
          <a:prstGeom prst="roundRect">
            <a:avLst>
              <a:gd name="adj" fmla="val 2532"/>
            </a:avLst>
          </a:prstGeom>
          <a:solidFill>
            <a:srgbClr val="0C1022"/>
          </a:solidFill>
          <a:ln w="12700">
            <a:solidFill>
              <a:srgbClr val="3A427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1005840"/>
            <a:ext cx="100584" cy="100584"/>
          </a:xfrm>
          <a:prstGeom prst="ellipse">
            <a:avLst/>
          </a:prstGeom>
          <a:solidFill>
            <a:srgbClr val="F29484"/>
          </a:solidFill>
          <a:ln w="12700">
            <a:solidFill>
              <a:srgbClr val="F294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1005840"/>
            <a:ext cx="100584" cy="100584"/>
          </a:xfrm>
          <a:prstGeom prst="ellipse">
            <a:avLst/>
          </a:prstGeom>
          <a:solidFill>
            <a:srgbClr val="F6C177"/>
          </a:solidFill>
          <a:ln w="12700">
            <a:solidFill>
              <a:srgbClr val="F6C1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1005840"/>
            <a:ext cx="100584" cy="100584"/>
          </a:xfrm>
          <a:prstGeom prst="ellipse">
            <a:avLst/>
          </a:prstGeom>
          <a:solidFill>
            <a:srgbClr val="9ED6E0"/>
          </a:solidFill>
          <a:ln w="12700">
            <a:solidFill>
              <a:srgbClr val="9ED6E0"/>
            </a:solidFill>
            <a:prstDash val="solid"/>
          </a:ln>
        </p:spPr>
      </p:sp>
      <p:pic>
        <p:nvPicPr>
          <p:cNvPr id="18" name="Image 0" descr="Monocle verification trace with pass status on each 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656" y="1188720"/>
            <a:ext cx="6327648" cy="33009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one byte. Watch the checks react.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148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Immutable. Never modified.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9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byte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246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Equal-length replacement in a signature, field or bitmap.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776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ED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compare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3434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reports recomputed, changes side by side.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749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C1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file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440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Re-verified on import. Saved labels grant nothing.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1783080"/>
            <a:ext cx="6126480" cy="4528820"/>
          </a:xfrm>
          <a:prstGeom prst="roundRect">
            <a:avLst>
              <a:gd name="adj" fmla="val 2019"/>
            </a:avLst>
          </a:prstGeom>
          <a:solidFill>
            <a:srgbClr val="0C1022"/>
          </a:solidFill>
          <a:ln w="12700">
            <a:solidFill>
              <a:srgbClr val="3A427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23560" y="1874520"/>
            <a:ext cx="100584" cy="100584"/>
          </a:xfrm>
          <a:prstGeom prst="ellipse">
            <a:avLst/>
          </a:prstGeom>
          <a:solidFill>
            <a:srgbClr val="F29484"/>
          </a:solidFill>
          <a:ln w="12700">
            <a:solidFill>
              <a:srgbClr val="F2948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1874520"/>
            <a:ext cx="100584" cy="100584"/>
          </a:xfrm>
          <a:prstGeom prst="ellipse">
            <a:avLst/>
          </a:prstGeom>
          <a:solidFill>
            <a:srgbClr val="F6C177"/>
          </a:solidFill>
          <a:ln w="12700">
            <a:solidFill>
              <a:srgbClr val="F6C1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874520"/>
            <a:ext cx="100584" cy="100584"/>
          </a:xfrm>
          <a:prstGeom prst="ellipse">
            <a:avLst/>
          </a:prstGeom>
          <a:solidFill>
            <a:srgbClr val="9ED6E0"/>
          </a:solidFill>
          <a:ln w="12700">
            <a:solidFill>
              <a:srgbClr val="9ED6E0"/>
            </a:solidFill>
            <a:prstDash val="solid"/>
          </a:ln>
        </p:spPr>
      </p:sp>
      <p:pic>
        <p:nvPicPr>
          <p:cNvPr id="20" name="Image 0" descr="Tamper lab: original verified, experiment rejected, with recorded byte ch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976" y="2057400"/>
            <a:ext cx="6053328" cy="42179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C77DA8">
              <a:alpha val="8000"/>
            </a:srgbClr>
          </a:solidFill>
          <a:ln w="12700">
            <a:solidFill>
              <a:srgbClr val="C77D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NETWORK DATA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context is missing, Monocle says so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recorded getAgGenesisCert response is inspected, never promoted. Without its historical checkpoint the outcome stays inconclusive.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89120"/>
            <a:ext cx="192024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7AF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A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INCONCLUSIVE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46320"/>
            <a:ext cx="29260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6C17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1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CAPTURE_CONTEXT_MISSING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914400"/>
            <a:ext cx="6400800" cy="4719320"/>
          </a:xfrm>
          <a:prstGeom prst="roundRect">
            <a:avLst>
              <a:gd name="adj" fmla="val 1938"/>
            </a:avLst>
          </a:prstGeom>
          <a:solidFill>
            <a:srgbClr val="0C1022"/>
          </a:solidFill>
          <a:ln w="12700">
            <a:solidFill>
              <a:srgbClr val="3A427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49240" y="1005840"/>
            <a:ext cx="100584" cy="100584"/>
          </a:xfrm>
          <a:prstGeom prst="ellipse">
            <a:avLst/>
          </a:prstGeom>
          <a:solidFill>
            <a:srgbClr val="F29484"/>
          </a:solidFill>
          <a:ln w="12700">
            <a:solidFill>
              <a:srgbClr val="F294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1005840"/>
            <a:ext cx="100584" cy="100584"/>
          </a:xfrm>
          <a:prstGeom prst="ellipse">
            <a:avLst/>
          </a:prstGeom>
          <a:solidFill>
            <a:srgbClr val="F6C177"/>
          </a:solidFill>
          <a:ln w="12700">
            <a:solidFill>
              <a:srgbClr val="F6C1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1005840"/>
            <a:ext cx="100584" cy="100584"/>
          </a:xfrm>
          <a:prstGeom prst="ellipse">
            <a:avLst/>
          </a:prstGeom>
          <a:solidFill>
            <a:srgbClr val="9ED6E0"/>
          </a:solidFill>
          <a:ln w="12700">
            <a:solidFill>
              <a:srgbClr val="9ED6E0"/>
            </a:solidFill>
            <a:prstDash val="solid"/>
          </a:ln>
        </p:spPr>
      </p:sp>
      <p:pic>
        <p:nvPicPr>
          <p:cNvPr id="12" name="Image 0" descr="Monocle genesis capture inspection listing what is miss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656" y="1188720"/>
            <a:ext cx="6327648" cy="44084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Rust core, native and in the browser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274320" cy="274320"/>
          </a:xfrm>
          <a:prstGeom prst="ellipse">
            <a:avLst/>
          </a:prstGeom>
          <a:solidFill>
            <a:srgbClr val="F6C177"/>
          </a:solidFill>
          <a:ln w="12700">
            <a:solidFill>
              <a:srgbClr val="F6C177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monocle-core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Rust. Parsing, BLS checks, stake, finality, tamper, capture.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27248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29000" y="210312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331720"/>
            <a:ext cx="274320" cy="274320"/>
          </a:xfrm>
          <a:prstGeom prst="ellipse">
            <a:avLst/>
          </a:prstGeom>
          <a:solidFill>
            <a:srgbClr val="F29484"/>
          </a:solidFill>
          <a:ln w="12700">
            <a:solidFill>
              <a:srgbClr val="F2948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monocle-wasm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291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byte interface over the same core.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916168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331720"/>
            <a:ext cx="274320" cy="274320"/>
          </a:xfrm>
          <a:prstGeom prst="ellipse">
            <a:avLst/>
          </a:prstGeom>
          <a:solidFill>
            <a:srgbClr val="C77DA8"/>
          </a:solidFill>
          <a:ln w="12700">
            <a:solidFill>
              <a:srgbClr val="C77DA8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 worker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291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Interruptible. Changes invalidate old results.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705088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006840" y="210312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2331720"/>
            <a:ext cx="274320" cy="274320"/>
          </a:xfrm>
          <a:prstGeom prst="ellipse">
            <a:avLst/>
          </a:prstGeom>
          <a:solidFill>
            <a:srgbClr val="9ED6E0"/>
          </a:solidFill>
          <a:ln w="12700">
            <a:solidFill>
              <a:srgbClr val="9ED6E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inspector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291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trust, report, experiments.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937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· WebAssembly · React 19 · TypeScript · Vite · Playwright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AF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wallet. No RPC connection. No external font or image service at runtime.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Monocle refuses to claim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82880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ED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9748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provenance, structure, trust, validity and finality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trust basis next to every result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missing check different from a failed one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untrusted strings as text; keep big integers exact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 not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9748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validator-set changes across epochs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transaction execution or run a bridge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 saved certificate or RPC response as verified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real-network verification. It is not yet established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reproduced, not just shown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C1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08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certificate scenarios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51960" y="201168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1031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9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3108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finality composition scenarios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ED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20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browser tests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51960" y="402336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D2546"/>
          </a:solidFill>
          <a:ln w="12700">
            <a:solidFill>
              <a:srgbClr val="1D25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41148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77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5120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lifecycle tests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350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AF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WCAG A/AA scans and zero-network offline checks.</a:t>
            </a:r>
            <a:endParaRPr lang="en-US" sz="1300" dirty="0"/>
          </a:p>
        </p:txBody>
      </p:sp>
      <p:pic>
        <p:nvPicPr>
          <p:cNvPr id="17" name="Image 0" descr="Monocle inspector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554480"/>
            <a:ext cx="1846402" cy="3998076"/>
          </a:xfrm>
          <a:prstGeom prst="rect">
            <a:avLst/>
          </a:prstGeom>
        </p:spPr>
      </p:pic>
      <p:pic>
        <p:nvPicPr>
          <p:cNvPr id="18" name="Image 1" descr="Monocle landing page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562" y="1554480"/>
            <a:ext cx="1902638" cy="399807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955280" y="56897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down to 375px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286000"/>
            <a:ext cx="6400800" cy="6400800"/>
          </a:xfrm>
          <a:prstGeom prst="ellipse">
            <a:avLst/>
          </a:prstGeom>
          <a:solidFill>
            <a:srgbClr val="F29484">
              <a:alpha val="9000"/>
            </a:srgbClr>
          </a:solidFill>
          <a:ln w="12700">
            <a:solidFill>
              <a:srgbClr val="F29484">
                <a:alpha val="0"/>
              </a:srgbClr>
            </a:solidFill>
            <a:prstDash val="solid"/>
          </a:ln>
        </p:spPr>
      </p:sp>
      <p:pic>
        <p:nvPicPr>
          <p:cNvPr id="3" name="Image 0" descr="Monocle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73736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a signed example.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731520" y="365760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232C52"/>
          </a:solidFill>
          <a:ln w="12700">
            <a:solidFill>
              <a:srgbClr val="232C5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37947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 --ignore-scripts --no-audit --no-fund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ED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349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github.com/mansi0xc/monocle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852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24.10+ and the pinned Rust toolchain.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0" y="1280160"/>
            <a:ext cx="4846320" cy="3639820"/>
          </a:xfrm>
          <a:prstGeom prst="roundRect">
            <a:avLst>
              <a:gd name="adj" fmla="val 2512"/>
            </a:avLst>
          </a:prstGeom>
          <a:solidFill>
            <a:srgbClr val="0C1022"/>
          </a:solidFill>
          <a:ln w="12700">
            <a:solidFill>
              <a:srgbClr val="3A427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95160" y="1371600"/>
            <a:ext cx="100584" cy="100584"/>
          </a:xfrm>
          <a:prstGeom prst="ellipse">
            <a:avLst/>
          </a:prstGeom>
          <a:solidFill>
            <a:srgbClr val="F29484"/>
          </a:solidFill>
          <a:ln w="12700">
            <a:solidFill>
              <a:srgbClr val="F2948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78040" y="1371600"/>
            <a:ext cx="100584" cy="100584"/>
          </a:xfrm>
          <a:prstGeom prst="ellipse">
            <a:avLst/>
          </a:prstGeom>
          <a:solidFill>
            <a:srgbClr val="F6C177"/>
          </a:solidFill>
          <a:ln w="12700">
            <a:solidFill>
              <a:srgbClr val="F6C17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60920" y="1371600"/>
            <a:ext cx="100584" cy="100584"/>
          </a:xfrm>
          <a:prstGeom prst="ellipse">
            <a:avLst/>
          </a:prstGeom>
          <a:solidFill>
            <a:srgbClr val="9ED6E0"/>
          </a:solidFill>
          <a:ln w="12700">
            <a:solidFill>
              <a:srgbClr val="9ED6E0"/>
            </a:solidFill>
            <a:prstDash val="solid"/>
          </a:ln>
        </p:spPr>
      </p:sp>
      <p:pic>
        <p:nvPicPr>
          <p:cNvPr id="13" name="Image 1" descr="Monocle inspector after verifying Fast final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1554480"/>
            <a:ext cx="4773168" cy="33289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B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Monocle: a finality debugger for Solana Alpenglow</dc:title>
  <dc:subject>PptxGenJS Presentation</dc:subject>
  <dc:creator>Mansi</dc:creator>
  <cp:lastModifiedBy>Mansi</cp:lastModifiedBy>
  <cp:revision>1</cp:revision>
  <dcterms:created xsi:type="dcterms:W3CDTF">2026-10-16T08:36:46Z</dcterms:created>
  <dcterms:modified xsi:type="dcterms:W3CDTF">2026-10-16T08:36:46Z</dcterms:modified>
</cp:coreProperties>
</file>